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Lato" panose="020F0502020204030204" pitchFamily="34" charset="0"/>
      <p:regular r:id="rId16"/>
    </p:embeddedFont>
    <p:embeddedFont>
      <p:font typeface="Lato Bold" panose="020B0604020202020204" charset="0"/>
      <p:regular r:id="rId17"/>
    </p:embeddedFont>
    <p:embeddedFont>
      <p:font typeface="Lato Bold Italics" panose="020B0604020202020204" charset="0"/>
      <p:regular r:id="rId18"/>
    </p:embeddedFont>
    <p:embeddedFont>
      <p:font typeface="Lato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hyperlink" Target="http://ghostcue.app" TargetMode="Externa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850238" y="2953341"/>
            <a:ext cx="3797798" cy="532809"/>
            <a:chOff x="0" y="0"/>
            <a:chExt cx="5063731" cy="7104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63744" cy="710438"/>
            </a:xfrm>
            <a:custGeom>
              <a:avLst/>
              <a:gdLst/>
              <a:ahLst/>
              <a:cxnLst/>
              <a:rect l="l" t="t" r="r" b="b"/>
              <a:pathLst>
                <a:path w="5063744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018405" y="0"/>
                  </a:lnTo>
                  <a:cubicBezTo>
                    <a:pt x="5043424" y="0"/>
                    <a:pt x="5063744" y="20320"/>
                    <a:pt x="5063744" y="45339"/>
                  </a:cubicBezTo>
                  <a:lnTo>
                    <a:pt x="5063744" y="665099"/>
                  </a:lnTo>
                  <a:cubicBezTo>
                    <a:pt x="5063744" y="690118"/>
                    <a:pt x="5043424" y="710438"/>
                    <a:pt x="5018405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E7E7E4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8020345" y="2962123"/>
            <a:ext cx="3457575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HACKATHON SUBMISSION · V1.0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784959" y="2939053"/>
            <a:ext cx="4257084" cy="561384"/>
            <a:chOff x="0" y="0"/>
            <a:chExt cx="5676113" cy="7485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76138" cy="748538"/>
            </a:xfrm>
            <a:custGeom>
              <a:avLst/>
              <a:gdLst/>
              <a:ahLst/>
              <a:cxnLst/>
              <a:rect l="l" t="t" r="r" b="b"/>
              <a:pathLst>
                <a:path w="5676138" h="748538">
                  <a:moveTo>
                    <a:pt x="0" y="51689"/>
                  </a:moveTo>
                  <a:cubicBezTo>
                    <a:pt x="0" y="23114"/>
                    <a:pt x="23495" y="0"/>
                    <a:pt x="52451" y="0"/>
                  </a:cubicBezTo>
                  <a:lnTo>
                    <a:pt x="5623687" y="0"/>
                  </a:lnTo>
                  <a:lnTo>
                    <a:pt x="5623687" y="6350"/>
                  </a:lnTo>
                  <a:lnTo>
                    <a:pt x="5623687" y="0"/>
                  </a:lnTo>
                  <a:cubicBezTo>
                    <a:pt x="5652516" y="0"/>
                    <a:pt x="5676138" y="23114"/>
                    <a:pt x="5676138" y="51689"/>
                  </a:cubicBezTo>
                  <a:lnTo>
                    <a:pt x="5669788" y="51689"/>
                  </a:lnTo>
                  <a:lnTo>
                    <a:pt x="5676138" y="51689"/>
                  </a:lnTo>
                  <a:lnTo>
                    <a:pt x="5676138" y="696849"/>
                  </a:lnTo>
                  <a:lnTo>
                    <a:pt x="5669788" y="696849"/>
                  </a:lnTo>
                  <a:lnTo>
                    <a:pt x="5676138" y="696849"/>
                  </a:lnTo>
                  <a:cubicBezTo>
                    <a:pt x="5676138" y="725551"/>
                    <a:pt x="5652643" y="748538"/>
                    <a:pt x="5623687" y="748538"/>
                  </a:cubicBezTo>
                  <a:lnTo>
                    <a:pt x="5623687" y="742188"/>
                  </a:lnTo>
                  <a:lnTo>
                    <a:pt x="5623687" y="748538"/>
                  </a:lnTo>
                  <a:lnTo>
                    <a:pt x="52451" y="748538"/>
                  </a:lnTo>
                  <a:lnTo>
                    <a:pt x="52451" y="742188"/>
                  </a:lnTo>
                  <a:lnTo>
                    <a:pt x="52451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451" y="735838"/>
                  </a:cubicBezTo>
                  <a:lnTo>
                    <a:pt x="5623687" y="735838"/>
                  </a:lnTo>
                  <a:cubicBezTo>
                    <a:pt x="5645658" y="735838"/>
                    <a:pt x="5663438" y="718312"/>
                    <a:pt x="5663438" y="696849"/>
                  </a:cubicBezTo>
                  <a:lnTo>
                    <a:pt x="5663438" y="51689"/>
                  </a:lnTo>
                  <a:cubicBezTo>
                    <a:pt x="5663438" y="30226"/>
                    <a:pt x="5645785" y="12700"/>
                    <a:pt x="5623687" y="12700"/>
                  </a:cubicBezTo>
                  <a:lnTo>
                    <a:pt x="52451" y="12700"/>
                  </a:lnTo>
                  <a:lnTo>
                    <a:pt x="52451" y="6350"/>
                  </a:lnTo>
                  <a:lnTo>
                    <a:pt x="52451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1969353" y="2962123"/>
            <a:ext cx="3888286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THEME: PRODUCTIVITY PLATFORMS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845476" y="3632597"/>
            <a:ext cx="5792991" cy="561384"/>
            <a:chOff x="0" y="0"/>
            <a:chExt cx="7723988" cy="7485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24013" cy="748538"/>
            </a:xfrm>
            <a:custGeom>
              <a:avLst/>
              <a:gdLst/>
              <a:ahLst/>
              <a:cxnLst/>
              <a:rect l="l" t="t" r="r" b="b"/>
              <a:pathLst>
                <a:path w="7724013" h="748538">
                  <a:moveTo>
                    <a:pt x="0" y="51689"/>
                  </a:moveTo>
                  <a:cubicBezTo>
                    <a:pt x="0" y="23114"/>
                    <a:pt x="23622" y="0"/>
                    <a:pt x="52451" y="0"/>
                  </a:cubicBezTo>
                  <a:lnTo>
                    <a:pt x="7671562" y="0"/>
                  </a:lnTo>
                  <a:lnTo>
                    <a:pt x="7671562" y="6350"/>
                  </a:lnTo>
                  <a:lnTo>
                    <a:pt x="7671562" y="0"/>
                  </a:lnTo>
                  <a:cubicBezTo>
                    <a:pt x="7700391" y="0"/>
                    <a:pt x="7724013" y="23114"/>
                    <a:pt x="7724013" y="51689"/>
                  </a:cubicBezTo>
                  <a:lnTo>
                    <a:pt x="7717663" y="51689"/>
                  </a:lnTo>
                  <a:lnTo>
                    <a:pt x="7724013" y="51689"/>
                  </a:lnTo>
                  <a:lnTo>
                    <a:pt x="7724013" y="696849"/>
                  </a:lnTo>
                  <a:lnTo>
                    <a:pt x="7717663" y="696849"/>
                  </a:lnTo>
                  <a:lnTo>
                    <a:pt x="7724013" y="696849"/>
                  </a:lnTo>
                  <a:cubicBezTo>
                    <a:pt x="7724013" y="725551"/>
                    <a:pt x="7700391" y="748538"/>
                    <a:pt x="7671562" y="748538"/>
                  </a:cubicBezTo>
                  <a:lnTo>
                    <a:pt x="7671562" y="742188"/>
                  </a:lnTo>
                  <a:lnTo>
                    <a:pt x="7671562" y="748538"/>
                  </a:lnTo>
                  <a:lnTo>
                    <a:pt x="52451" y="748538"/>
                  </a:lnTo>
                  <a:lnTo>
                    <a:pt x="52451" y="742188"/>
                  </a:lnTo>
                  <a:lnTo>
                    <a:pt x="52451" y="748538"/>
                  </a:lnTo>
                  <a:cubicBezTo>
                    <a:pt x="23622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451" y="735838"/>
                  </a:cubicBezTo>
                  <a:lnTo>
                    <a:pt x="7671562" y="735838"/>
                  </a:lnTo>
                  <a:cubicBezTo>
                    <a:pt x="7693533" y="735838"/>
                    <a:pt x="7711313" y="718312"/>
                    <a:pt x="7711313" y="696849"/>
                  </a:cubicBezTo>
                  <a:lnTo>
                    <a:pt x="7711313" y="51689"/>
                  </a:lnTo>
                  <a:cubicBezTo>
                    <a:pt x="7711313" y="30226"/>
                    <a:pt x="7693660" y="12700"/>
                    <a:pt x="7671562" y="12700"/>
                  </a:cubicBezTo>
                  <a:lnTo>
                    <a:pt x="52451" y="12700"/>
                  </a:lnTo>
                  <a:lnTo>
                    <a:pt x="52451" y="6350"/>
                  </a:lnTo>
                  <a:lnTo>
                    <a:pt x="52451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8029870" y="3655666"/>
            <a:ext cx="5424192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CATEGORY: AI AGENT — INTERVIEW INTELLIGENCE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50238" y="4264523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GhostCue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50238" y="5273431"/>
            <a:ext cx="8965559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00C9A7"/>
                </a:solidFill>
                <a:latin typeface="Lato Bold"/>
                <a:ea typeface="Lato Bold"/>
                <a:cs typeface="Lato Bold"/>
                <a:sym typeface="Lato Bold"/>
              </a:rPr>
              <a:t>Your unfair advantage in every hire.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50238" y="6340678"/>
            <a:ext cx="9445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 multi-interface AI agent — run it in your terminal or talk to it via Telegram, WhatsApp, and more. 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30326" y="806948"/>
            <a:ext cx="6691312" cy="859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Interviews Are Broken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0326" y="2164404"/>
            <a:ext cx="5309597" cy="3378841"/>
            <a:chOff x="0" y="0"/>
            <a:chExt cx="7079463" cy="45051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79488" cy="4505198"/>
            </a:xfrm>
            <a:custGeom>
              <a:avLst/>
              <a:gdLst/>
              <a:ahLst/>
              <a:cxnLst/>
              <a:rect l="l" t="t" r="r" b="b"/>
              <a:pathLst>
                <a:path w="7079488" h="4505198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7026275" y="0"/>
                  </a:lnTo>
                  <a:cubicBezTo>
                    <a:pt x="7055612" y="0"/>
                    <a:pt x="7079488" y="23749"/>
                    <a:pt x="7079488" y="53213"/>
                  </a:cubicBezTo>
                  <a:lnTo>
                    <a:pt x="7079488" y="4451985"/>
                  </a:lnTo>
                  <a:cubicBezTo>
                    <a:pt x="7079488" y="4481322"/>
                    <a:pt x="7055739" y="4505198"/>
                    <a:pt x="7026275" y="4505198"/>
                  </a:cubicBezTo>
                  <a:lnTo>
                    <a:pt x="53213" y="4505198"/>
                  </a:lnTo>
                  <a:cubicBezTo>
                    <a:pt x="23876" y="4505198"/>
                    <a:pt x="0" y="4481449"/>
                    <a:pt x="0" y="4451985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196130" y="2430218"/>
            <a:ext cx="797423" cy="797423"/>
            <a:chOff x="0" y="0"/>
            <a:chExt cx="1063231" cy="10632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531622"/>
                  </a:moveTo>
                  <a:cubicBezTo>
                    <a:pt x="0" y="237998"/>
                    <a:pt x="237998" y="0"/>
                    <a:pt x="531622" y="0"/>
                  </a:cubicBezTo>
                  <a:cubicBezTo>
                    <a:pt x="825246" y="0"/>
                    <a:pt x="1063244" y="237998"/>
                    <a:pt x="1063244" y="531622"/>
                  </a:cubicBezTo>
                  <a:cubicBezTo>
                    <a:pt x="1063244" y="825246"/>
                    <a:pt x="825246" y="1063244"/>
                    <a:pt x="531622" y="1063244"/>
                  </a:cubicBezTo>
                  <a:cubicBezTo>
                    <a:pt x="237998" y="1063244"/>
                    <a:pt x="0" y="825246"/>
                    <a:pt x="0" y="53162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1415358" y="2649436"/>
            <a:ext cx="358826" cy="358826"/>
          </a:xfrm>
          <a:custGeom>
            <a:avLst/>
            <a:gdLst/>
            <a:ahLst/>
            <a:cxnLst/>
            <a:rect l="l" t="t" r="r" b="b"/>
            <a:pathLst>
              <a:path w="358826" h="358826">
                <a:moveTo>
                  <a:pt x="0" y="0"/>
                </a:moveTo>
                <a:lnTo>
                  <a:pt x="358826" y="0"/>
                </a:lnTo>
                <a:lnTo>
                  <a:pt x="358826" y="358826"/>
                </a:lnTo>
                <a:lnTo>
                  <a:pt x="0" y="358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316" b="-131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6130" y="3457727"/>
            <a:ext cx="3761184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Unprepared Interviewers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6130" y="3974897"/>
            <a:ext cx="4777978" cy="1302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0–10 minutes reviewing resumes. Generic questions. Skill mismatches undetected.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489059" y="2164404"/>
            <a:ext cx="5309740" cy="3378841"/>
            <a:chOff x="0" y="0"/>
            <a:chExt cx="7079653" cy="45051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79742" cy="4505198"/>
            </a:xfrm>
            <a:custGeom>
              <a:avLst/>
              <a:gdLst/>
              <a:ahLst/>
              <a:cxnLst/>
              <a:rect l="l" t="t" r="r" b="b"/>
              <a:pathLst>
                <a:path w="7079742" h="4505198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7026529" y="0"/>
                  </a:lnTo>
                  <a:cubicBezTo>
                    <a:pt x="7055866" y="0"/>
                    <a:pt x="7079742" y="23749"/>
                    <a:pt x="7079742" y="53213"/>
                  </a:cubicBezTo>
                  <a:lnTo>
                    <a:pt x="7079742" y="4451985"/>
                  </a:lnTo>
                  <a:cubicBezTo>
                    <a:pt x="7079742" y="4481322"/>
                    <a:pt x="7055993" y="4505198"/>
                    <a:pt x="7026529" y="4505198"/>
                  </a:cubicBezTo>
                  <a:lnTo>
                    <a:pt x="53213" y="4505198"/>
                  </a:lnTo>
                  <a:cubicBezTo>
                    <a:pt x="23876" y="4505198"/>
                    <a:pt x="0" y="4481449"/>
                    <a:pt x="0" y="4451985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754863" y="2430218"/>
            <a:ext cx="797423" cy="797423"/>
            <a:chOff x="0" y="0"/>
            <a:chExt cx="1063231" cy="106323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531622"/>
                  </a:moveTo>
                  <a:cubicBezTo>
                    <a:pt x="0" y="237998"/>
                    <a:pt x="237998" y="0"/>
                    <a:pt x="531622" y="0"/>
                  </a:cubicBezTo>
                  <a:cubicBezTo>
                    <a:pt x="825246" y="0"/>
                    <a:pt x="1063244" y="237998"/>
                    <a:pt x="1063244" y="531622"/>
                  </a:cubicBezTo>
                  <a:cubicBezTo>
                    <a:pt x="1063244" y="825246"/>
                    <a:pt x="825246" y="1063244"/>
                    <a:pt x="531622" y="1063244"/>
                  </a:cubicBezTo>
                  <a:cubicBezTo>
                    <a:pt x="237998" y="1063244"/>
                    <a:pt x="0" y="825246"/>
                    <a:pt x="0" y="53162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18" name="Freeform 18" descr="preencoded.png"/>
          <p:cNvSpPr/>
          <p:nvPr/>
        </p:nvSpPr>
        <p:spPr>
          <a:xfrm>
            <a:off x="6974091" y="2649436"/>
            <a:ext cx="358826" cy="358826"/>
          </a:xfrm>
          <a:custGeom>
            <a:avLst/>
            <a:gdLst/>
            <a:ahLst/>
            <a:cxnLst/>
            <a:rect l="l" t="t" r="r" b="b"/>
            <a:pathLst>
              <a:path w="358826" h="358826">
                <a:moveTo>
                  <a:pt x="0" y="0"/>
                </a:moveTo>
                <a:lnTo>
                  <a:pt x="358825" y="0"/>
                </a:lnTo>
                <a:lnTo>
                  <a:pt x="358825" y="358826"/>
                </a:lnTo>
                <a:lnTo>
                  <a:pt x="0" y="358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16" r="-1313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754863" y="3457727"/>
            <a:ext cx="3467691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Uneven Topic Coverage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54863" y="3974897"/>
            <a:ext cx="4778131" cy="89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35+ minutes on one topic. System design and behavioral signals never touched.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47934" y="2164404"/>
            <a:ext cx="5309740" cy="3378841"/>
            <a:chOff x="0" y="0"/>
            <a:chExt cx="7079653" cy="450512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79742" cy="4505198"/>
            </a:xfrm>
            <a:custGeom>
              <a:avLst/>
              <a:gdLst/>
              <a:ahLst/>
              <a:cxnLst/>
              <a:rect l="l" t="t" r="r" b="b"/>
              <a:pathLst>
                <a:path w="7079742" h="4505198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7026529" y="0"/>
                  </a:lnTo>
                  <a:cubicBezTo>
                    <a:pt x="7055866" y="0"/>
                    <a:pt x="7079742" y="23749"/>
                    <a:pt x="7079742" y="53213"/>
                  </a:cubicBezTo>
                  <a:lnTo>
                    <a:pt x="7079742" y="4451985"/>
                  </a:lnTo>
                  <a:cubicBezTo>
                    <a:pt x="7079742" y="4481322"/>
                    <a:pt x="7055993" y="4505198"/>
                    <a:pt x="7026529" y="4505198"/>
                  </a:cubicBezTo>
                  <a:lnTo>
                    <a:pt x="53213" y="4505198"/>
                  </a:lnTo>
                  <a:cubicBezTo>
                    <a:pt x="23876" y="4505198"/>
                    <a:pt x="0" y="4481449"/>
                    <a:pt x="0" y="4451985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2313739" y="2430218"/>
            <a:ext cx="797423" cy="797423"/>
            <a:chOff x="0" y="0"/>
            <a:chExt cx="1063231" cy="10632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531622"/>
                  </a:moveTo>
                  <a:cubicBezTo>
                    <a:pt x="0" y="237998"/>
                    <a:pt x="237998" y="0"/>
                    <a:pt x="531622" y="0"/>
                  </a:cubicBezTo>
                  <a:cubicBezTo>
                    <a:pt x="825246" y="0"/>
                    <a:pt x="1063244" y="237998"/>
                    <a:pt x="1063244" y="531622"/>
                  </a:cubicBezTo>
                  <a:cubicBezTo>
                    <a:pt x="1063244" y="825246"/>
                    <a:pt x="825246" y="1063244"/>
                    <a:pt x="531622" y="1063244"/>
                  </a:cubicBezTo>
                  <a:cubicBezTo>
                    <a:pt x="237998" y="1063244"/>
                    <a:pt x="0" y="825246"/>
                    <a:pt x="0" y="53162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25" name="Freeform 25" descr="preencoded.png"/>
          <p:cNvSpPr/>
          <p:nvPr/>
        </p:nvSpPr>
        <p:spPr>
          <a:xfrm>
            <a:off x="12532966" y="2649436"/>
            <a:ext cx="358826" cy="358826"/>
          </a:xfrm>
          <a:custGeom>
            <a:avLst/>
            <a:gdLst/>
            <a:ahLst/>
            <a:cxnLst/>
            <a:rect l="l" t="t" r="r" b="b"/>
            <a:pathLst>
              <a:path w="358826" h="358826">
                <a:moveTo>
                  <a:pt x="0" y="0"/>
                </a:moveTo>
                <a:lnTo>
                  <a:pt x="358826" y="0"/>
                </a:lnTo>
                <a:lnTo>
                  <a:pt x="358826" y="358826"/>
                </a:lnTo>
                <a:lnTo>
                  <a:pt x="0" y="358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316" b="-1313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313739" y="3457727"/>
            <a:ext cx="3322587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Dropped Follow-ups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13739" y="3974897"/>
            <a:ext cx="4778131" cy="89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Shallow answers accepted. Nobody probes scope, impact, or failures.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0326" y="5792391"/>
            <a:ext cx="8089106" cy="2966885"/>
            <a:chOff x="0" y="0"/>
            <a:chExt cx="10785475" cy="395584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85475" cy="3955923"/>
            </a:xfrm>
            <a:custGeom>
              <a:avLst/>
              <a:gdLst/>
              <a:ahLst/>
              <a:cxnLst/>
              <a:rect l="l" t="t" r="r" b="b"/>
              <a:pathLst>
                <a:path w="10785475" h="3955923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10732262" y="0"/>
                  </a:lnTo>
                  <a:cubicBezTo>
                    <a:pt x="10761599" y="0"/>
                    <a:pt x="10785475" y="23749"/>
                    <a:pt x="10785475" y="53213"/>
                  </a:cubicBezTo>
                  <a:lnTo>
                    <a:pt x="10785475" y="3902710"/>
                  </a:lnTo>
                  <a:cubicBezTo>
                    <a:pt x="10785475" y="3932047"/>
                    <a:pt x="10761726" y="3955923"/>
                    <a:pt x="10732262" y="3955923"/>
                  </a:cubicBezTo>
                  <a:lnTo>
                    <a:pt x="53213" y="3955923"/>
                  </a:lnTo>
                  <a:cubicBezTo>
                    <a:pt x="23876" y="3955923"/>
                    <a:pt x="0" y="3932174"/>
                    <a:pt x="0" y="390271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196130" y="6058195"/>
            <a:ext cx="797423" cy="797423"/>
            <a:chOff x="0" y="0"/>
            <a:chExt cx="1063231" cy="106323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531622"/>
                  </a:moveTo>
                  <a:cubicBezTo>
                    <a:pt x="0" y="237998"/>
                    <a:pt x="237998" y="0"/>
                    <a:pt x="531622" y="0"/>
                  </a:cubicBezTo>
                  <a:cubicBezTo>
                    <a:pt x="825246" y="0"/>
                    <a:pt x="1063244" y="237998"/>
                    <a:pt x="1063244" y="531622"/>
                  </a:cubicBezTo>
                  <a:cubicBezTo>
                    <a:pt x="1063244" y="825246"/>
                    <a:pt x="825246" y="1063244"/>
                    <a:pt x="531622" y="1063244"/>
                  </a:cubicBezTo>
                  <a:cubicBezTo>
                    <a:pt x="237998" y="1063244"/>
                    <a:pt x="0" y="825246"/>
                    <a:pt x="0" y="53162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32" name="Freeform 32" descr="preencoded.png"/>
          <p:cNvSpPr/>
          <p:nvPr/>
        </p:nvSpPr>
        <p:spPr>
          <a:xfrm>
            <a:off x="1415358" y="6277423"/>
            <a:ext cx="358826" cy="358826"/>
          </a:xfrm>
          <a:custGeom>
            <a:avLst/>
            <a:gdLst/>
            <a:ahLst/>
            <a:cxnLst/>
            <a:rect l="l" t="t" r="r" b="b"/>
            <a:pathLst>
              <a:path w="358826" h="358826">
                <a:moveTo>
                  <a:pt x="0" y="0"/>
                </a:moveTo>
                <a:lnTo>
                  <a:pt x="358826" y="0"/>
                </a:lnTo>
                <a:lnTo>
                  <a:pt x="358826" y="358825"/>
                </a:lnTo>
                <a:lnTo>
                  <a:pt x="0" y="358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947" b="-3947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96130" y="7085705"/>
            <a:ext cx="3322587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Biased Post-call Notes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6130" y="7602884"/>
            <a:ext cx="7557497" cy="89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Reports written from memory 10–30 minutes after. Two interviewers, two different assessments.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268568" y="5792391"/>
            <a:ext cx="8089106" cy="2966885"/>
            <a:chOff x="0" y="0"/>
            <a:chExt cx="10785475" cy="395584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785475" cy="3955923"/>
            </a:xfrm>
            <a:custGeom>
              <a:avLst/>
              <a:gdLst/>
              <a:ahLst/>
              <a:cxnLst/>
              <a:rect l="l" t="t" r="r" b="b"/>
              <a:pathLst>
                <a:path w="10785475" h="3955923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10732262" y="0"/>
                  </a:lnTo>
                  <a:cubicBezTo>
                    <a:pt x="10761599" y="0"/>
                    <a:pt x="10785475" y="23749"/>
                    <a:pt x="10785475" y="53213"/>
                  </a:cubicBezTo>
                  <a:lnTo>
                    <a:pt x="10785475" y="3902710"/>
                  </a:lnTo>
                  <a:cubicBezTo>
                    <a:pt x="10785475" y="3932047"/>
                    <a:pt x="10761726" y="3955923"/>
                    <a:pt x="10732262" y="3955923"/>
                  </a:cubicBezTo>
                  <a:lnTo>
                    <a:pt x="53213" y="3955923"/>
                  </a:lnTo>
                  <a:cubicBezTo>
                    <a:pt x="23876" y="3955923"/>
                    <a:pt x="0" y="3932174"/>
                    <a:pt x="0" y="390271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534373" y="6058195"/>
            <a:ext cx="797423" cy="797423"/>
            <a:chOff x="0" y="0"/>
            <a:chExt cx="1063231" cy="106323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531622"/>
                  </a:moveTo>
                  <a:cubicBezTo>
                    <a:pt x="0" y="237998"/>
                    <a:pt x="237998" y="0"/>
                    <a:pt x="531622" y="0"/>
                  </a:cubicBezTo>
                  <a:cubicBezTo>
                    <a:pt x="825246" y="0"/>
                    <a:pt x="1063244" y="237998"/>
                    <a:pt x="1063244" y="531622"/>
                  </a:cubicBezTo>
                  <a:cubicBezTo>
                    <a:pt x="1063244" y="825246"/>
                    <a:pt x="825246" y="1063244"/>
                    <a:pt x="531622" y="1063244"/>
                  </a:cubicBezTo>
                  <a:cubicBezTo>
                    <a:pt x="237998" y="1063244"/>
                    <a:pt x="0" y="825246"/>
                    <a:pt x="0" y="53162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39" name="Freeform 39" descr="preencoded.png"/>
          <p:cNvSpPr/>
          <p:nvPr/>
        </p:nvSpPr>
        <p:spPr>
          <a:xfrm>
            <a:off x="9753600" y="6277423"/>
            <a:ext cx="358826" cy="358826"/>
          </a:xfrm>
          <a:custGeom>
            <a:avLst/>
            <a:gdLst/>
            <a:ahLst/>
            <a:cxnLst/>
            <a:rect l="l" t="t" r="r" b="b"/>
            <a:pathLst>
              <a:path w="358826" h="358826">
                <a:moveTo>
                  <a:pt x="0" y="0"/>
                </a:moveTo>
                <a:lnTo>
                  <a:pt x="358826" y="0"/>
                </a:lnTo>
                <a:lnTo>
                  <a:pt x="358826" y="358825"/>
                </a:lnTo>
                <a:lnTo>
                  <a:pt x="0" y="358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577" r="-6580"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9534373" y="7085705"/>
            <a:ext cx="4034733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Undetected Contradictions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34373" y="7602884"/>
            <a:ext cx="7557497" cy="89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Candidates contradict themselves mid-session. Nobody tracks the full thread in real time.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0326" y="8972845"/>
            <a:ext cx="16427348" cy="47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i="1">
                <a:solidFill>
                  <a:srgbClr val="CCEEE8"/>
                </a:solidFill>
                <a:latin typeface="Lato Italics"/>
                <a:ea typeface="Lato Italics"/>
                <a:cs typeface="Lato Italics"/>
                <a:sym typeface="Lato Italics"/>
              </a:rPr>
              <a:t>Every one of these problems costs companies bad hires. GhostCue solves all five.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072458"/>
            <a:ext cx="13628789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GhostCue — Your Silent AI Interview 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081365"/>
            <a:ext cx="10431666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i="1">
                <a:solidFill>
                  <a:srgbClr val="282824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One agent. Three phases. Every interface.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243853"/>
            <a:ext cx="5434460" cy="1134066"/>
            <a:chOff x="0" y="0"/>
            <a:chExt cx="7245947" cy="151208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245985" cy="1512062"/>
            </a:xfrm>
            <a:custGeom>
              <a:avLst/>
              <a:gdLst/>
              <a:ahLst/>
              <a:cxnLst/>
              <a:rect l="l" t="t" r="r" b="b"/>
              <a:pathLst>
                <a:path w="7245985" h="1512062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5" r="-65" b="-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75759" y="4642399"/>
            <a:ext cx="480253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BEFORE — Prepare in Seconds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759" y="5179219"/>
            <a:ext cx="4867427" cy="281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Upload CV via Terminal, Telegram, or WhatsApp. GhostCue parses skills, experience, and tech stack — then generates custom questions and a competency checklist in under 30 seconds.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426698" y="3243853"/>
            <a:ext cx="5434460" cy="1134066"/>
            <a:chOff x="0" y="0"/>
            <a:chExt cx="7245947" cy="151208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245985" cy="1512062"/>
            </a:xfrm>
            <a:custGeom>
              <a:avLst/>
              <a:gdLst/>
              <a:ahLst/>
              <a:cxnLst/>
              <a:rect l="l" t="t" r="r" b="b"/>
              <a:pathLst>
                <a:path w="7245985" h="1512062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5" r="-65" b="-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710210" y="4642399"/>
            <a:ext cx="4867427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DURING — Silent Real-Time Coach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10210" y="5622131"/>
            <a:ext cx="4867427" cy="3270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Listens via system audio capture. Whisper transcribes with diarization. OpenClaw Agent processes against Cognitive RAM. Live nudges — </a:t>
            </a:r>
            <a:r>
              <a:rPr lang="en-US" sz="2187" i="1">
                <a:solidFill>
                  <a:srgbClr val="4A4A45"/>
                </a:solidFill>
                <a:latin typeface="Lato Italics"/>
                <a:ea typeface="Lato Italics"/>
                <a:cs typeface="Lato Italics"/>
                <a:sym typeface="Lato Italics"/>
              </a:rPr>
              <a:t>"Ask about scope"</a:t>
            </a: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lang="en-US" sz="2187" i="1">
                <a:solidFill>
                  <a:srgbClr val="4A4A45"/>
                </a:solidFill>
                <a:latin typeface="Lato Italics"/>
                <a:ea typeface="Lato Italics"/>
                <a:cs typeface="Lato Italics"/>
                <a:sym typeface="Lato Italics"/>
              </a:rPr>
              <a:t>"Contradiction detected"</a:t>
            </a: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— arrive silently on your device.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861159" y="3243853"/>
            <a:ext cx="5434460" cy="1134066"/>
            <a:chOff x="0" y="0"/>
            <a:chExt cx="7245947" cy="1512087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245985" cy="1512062"/>
            </a:xfrm>
            <a:custGeom>
              <a:avLst/>
              <a:gdLst/>
              <a:ahLst/>
              <a:cxnLst/>
              <a:rect l="l" t="t" r="r" b="b"/>
              <a:pathLst>
                <a:path w="7245985" h="1512062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5" r="-65" b="-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2144670" y="4642399"/>
            <a:ext cx="4867427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AFTER — Report, Score, Decide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44670" y="5622131"/>
            <a:ext cx="4867427" cy="281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HEARTBEAT.md triggers post-session pipeline. Structured report + Candidate Integrity Score (0–100) with Radar Chart in under 2 minutes. Human review gate required. Export as PDF or Markdown.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348978" y="664959"/>
            <a:ext cx="10949435" cy="73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Under the Hood — GhostCue's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48978" y="1871815"/>
            <a:ext cx="7519245" cy="7519245"/>
            <a:chOff x="0" y="0"/>
            <a:chExt cx="10025659" cy="1002565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025634" cy="10025634"/>
            </a:xfrm>
            <a:custGeom>
              <a:avLst/>
              <a:gdLst/>
              <a:ahLst/>
              <a:cxnLst/>
              <a:rect l="l" t="t" r="r" b="b"/>
              <a:pathLst>
                <a:path w="10025634" h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48978" y="1871815"/>
            <a:ext cx="7519245" cy="7519245"/>
            <a:chOff x="0" y="0"/>
            <a:chExt cx="10025659" cy="1002565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025634" cy="10025634"/>
            </a:xfrm>
            <a:custGeom>
              <a:avLst/>
              <a:gdLst/>
              <a:ahLst/>
              <a:cxnLst/>
              <a:rect l="l" t="t" r="r" b="b"/>
              <a:pathLst>
                <a:path w="10025634" h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429007" y="3841252"/>
            <a:ext cx="5977833" cy="37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Cognitive RAM — The Persistent Memory Layer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29007" y="4355154"/>
            <a:ext cx="7519245" cy="133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SQLite and Redis power a stateful memory layer that persists the full candidate profile, live transcript, and cross-session history across all three phases — enabling real-time contradiction detection, competency tracking, and post-session scoring.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429007" y="5894632"/>
            <a:ext cx="7519245" cy="1485452"/>
            <a:chOff x="0" y="0"/>
            <a:chExt cx="10025659" cy="19806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25634" cy="1980565"/>
            </a:xfrm>
            <a:custGeom>
              <a:avLst/>
              <a:gdLst/>
              <a:ahLst/>
              <a:cxnLst/>
              <a:rect l="l" t="t" r="r" b="b"/>
              <a:pathLst>
                <a:path w="10025634" h="1980565">
                  <a:moveTo>
                    <a:pt x="0" y="45212"/>
                  </a:moveTo>
                  <a:cubicBezTo>
                    <a:pt x="0" y="20193"/>
                    <a:pt x="20193" y="0"/>
                    <a:pt x="45212" y="0"/>
                  </a:cubicBezTo>
                  <a:lnTo>
                    <a:pt x="9980422" y="0"/>
                  </a:lnTo>
                  <a:cubicBezTo>
                    <a:pt x="10005441" y="0"/>
                    <a:pt x="10025634" y="20193"/>
                    <a:pt x="10025634" y="45212"/>
                  </a:cubicBezTo>
                  <a:lnTo>
                    <a:pt x="10025634" y="1935353"/>
                  </a:lnTo>
                  <a:cubicBezTo>
                    <a:pt x="10025634" y="1960372"/>
                    <a:pt x="10005441" y="1980565"/>
                    <a:pt x="9980422" y="1980565"/>
                  </a:cubicBezTo>
                  <a:lnTo>
                    <a:pt x="45212" y="1980565"/>
                  </a:lnTo>
                  <a:cubicBezTo>
                    <a:pt x="20193" y="1980565"/>
                    <a:pt x="0" y="1960372"/>
                    <a:pt x="0" y="1935353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654931" y="6226816"/>
            <a:ext cx="282331" cy="225923"/>
            <a:chOff x="0" y="0"/>
            <a:chExt cx="376441" cy="301231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376428" cy="301244"/>
            </a:xfrm>
            <a:custGeom>
              <a:avLst/>
              <a:gdLst/>
              <a:ahLst/>
              <a:cxnLst/>
              <a:rect l="l" t="t" r="r" b="b"/>
              <a:pathLst>
                <a:path w="376428" h="301244">
                  <a:moveTo>
                    <a:pt x="0" y="0"/>
                  </a:moveTo>
                  <a:lnTo>
                    <a:pt x="376428" y="0"/>
                  </a:lnTo>
                  <a:lnTo>
                    <a:pt x="376428" y="301244"/>
                  </a:lnTo>
                  <a:lnTo>
                    <a:pt x="0" y="301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r="-13" b="4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163175" y="6092876"/>
            <a:ext cx="6559153" cy="101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SOUL.md</a:t>
            </a:r>
            <a:r>
              <a:rPr lang="en-US" sz="17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defines the agent's coaching persona and behavioral rules. </a:t>
            </a:r>
            <a:r>
              <a:rPr lang="en-US" sz="175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HEARTBEAT.md</a:t>
            </a:r>
            <a:r>
              <a:rPr lang="en-US" sz="17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triggers pre/post session lifecycle hooks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6760" y="784022"/>
            <a:ext cx="8433940" cy="91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One Agent, Every Interface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6760" y="1785042"/>
            <a:ext cx="16077752" cy="71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 i="1">
                <a:solidFill>
                  <a:srgbClr val="282824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Same backend. Same intelligence. Your choice of how to talk to it.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6760" y="2913907"/>
            <a:ext cx="3025083" cy="1869577"/>
            <a:chOff x="0" y="0"/>
            <a:chExt cx="4033444" cy="249276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4033393" cy="2492756"/>
            </a:xfrm>
            <a:custGeom>
              <a:avLst/>
              <a:gdLst/>
              <a:ahLst/>
              <a:cxnLst/>
              <a:rect l="l" t="t" r="r" b="b"/>
              <a:pathLst>
                <a:path w="4033393" h="2492756">
                  <a:moveTo>
                    <a:pt x="0" y="0"/>
                  </a:moveTo>
                  <a:lnTo>
                    <a:pt x="4033393" y="0"/>
                  </a:lnTo>
                  <a:lnTo>
                    <a:pt x="4033393" y="2492756"/>
                  </a:lnTo>
                  <a:lnTo>
                    <a:pt x="0" y="2492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5" r="-13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76760" y="5107781"/>
            <a:ext cx="3488684" cy="46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💻</a:t>
            </a:r>
            <a:r>
              <a:rPr lang="en-US" sz="2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Terminal Interface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6760" y="5651449"/>
            <a:ext cx="5215833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ghostcue start in any CLI. Upload CV, stream live nudges, run ghostcue compare. Reports saved as PDF + Markdown locally.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1998" y="7813034"/>
            <a:ext cx="5225358" cy="904580"/>
            <a:chOff x="0" y="0"/>
            <a:chExt cx="6967144" cy="12061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67220" cy="1206119"/>
            </a:xfrm>
            <a:custGeom>
              <a:avLst/>
              <a:gdLst/>
              <a:ahLst/>
              <a:cxnLst/>
              <a:rect l="l" t="t" r="r" b="b"/>
              <a:pathLst>
                <a:path w="6967220" h="1206119">
                  <a:moveTo>
                    <a:pt x="0" y="51054"/>
                  </a:moveTo>
                  <a:cubicBezTo>
                    <a:pt x="0" y="22733"/>
                    <a:pt x="23114" y="0"/>
                    <a:pt x="51435" y="0"/>
                  </a:cubicBezTo>
                  <a:lnTo>
                    <a:pt x="6915785" y="0"/>
                  </a:lnTo>
                  <a:lnTo>
                    <a:pt x="6915785" y="6350"/>
                  </a:lnTo>
                  <a:lnTo>
                    <a:pt x="6915785" y="0"/>
                  </a:lnTo>
                  <a:cubicBezTo>
                    <a:pt x="6944106" y="0"/>
                    <a:pt x="6967220" y="22733"/>
                    <a:pt x="6967220" y="51054"/>
                  </a:cubicBezTo>
                  <a:lnTo>
                    <a:pt x="6960870" y="51054"/>
                  </a:lnTo>
                  <a:lnTo>
                    <a:pt x="6967220" y="51054"/>
                  </a:lnTo>
                  <a:lnTo>
                    <a:pt x="6967220" y="1155065"/>
                  </a:lnTo>
                  <a:lnTo>
                    <a:pt x="6960870" y="1155065"/>
                  </a:lnTo>
                  <a:lnTo>
                    <a:pt x="6967220" y="1155065"/>
                  </a:lnTo>
                  <a:cubicBezTo>
                    <a:pt x="6967220" y="1183259"/>
                    <a:pt x="6944106" y="1206119"/>
                    <a:pt x="6915785" y="1206119"/>
                  </a:cubicBezTo>
                  <a:lnTo>
                    <a:pt x="6915785" y="1199769"/>
                  </a:lnTo>
                  <a:lnTo>
                    <a:pt x="6915785" y="1206119"/>
                  </a:lnTo>
                  <a:lnTo>
                    <a:pt x="51435" y="1206119"/>
                  </a:lnTo>
                  <a:lnTo>
                    <a:pt x="51435" y="1199769"/>
                  </a:lnTo>
                  <a:lnTo>
                    <a:pt x="51435" y="1206119"/>
                  </a:lnTo>
                  <a:cubicBezTo>
                    <a:pt x="23114" y="1206119"/>
                    <a:pt x="0" y="1183259"/>
                    <a:pt x="0" y="1155065"/>
                  </a:cubicBezTo>
                  <a:lnTo>
                    <a:pt x="0" y="51054"/>
                  </a:lnTo>
                  <a:lnTo>
                    <a:pt x="6350" y="51054"/>
                  </a:lnTo>
                  <a:lnTo>
                    <a:pt x="0" y="51054"/>
                  </a:lnTo>
                  <a:moveTo>
                    <a:pt x="12700" y="51054"/>
                  </a:moveTo>
                  <a:lnTo>
                    <a:pt x="12700" y="1155065"/>
                  </a:lnTo>
                  <a:lnTo>
                    <a:pt x="6350" y="1155065"/>
                  </a:lnTo>
                  <a:lnTo>
                    <a:pt x="12700" y="1155065"/>
                  </a:lnTo>
                  <a:cubicBezTo>
                    <a:pt x="12700" y="1176147"/>
                    <a:pt x="29972" y="1193419"/>
                    <a:pt x="51435" y="1193419"/>
                  </a:cubicBezTo>
                  <a:lnTo>
                    <a:pt x="6915785" y="1193419"/>
                  </a:lnTo>
                  <a:cubicBezTo>
                    <a:pt x="6937248" y="1193419"/>
                    <a:pt x="6954520" y="1176274"/>
                    <a:pt x="6954520" y="1155065"/>
                  </a:cubicBezTo>
                  <a:lnTo>
                    <a:pt x="6954520" y="51054"/>
                  </a:lnTo>
                  <a:cubicBezTo>
                    <a:pt x="6954520" y="29972"/>
                    <a:pt x="6937248" y="12700"/>
                    <a:pt x="6915785" y="12700"/>
                  </a:cubicBezTo>
                  <a:lnTo>
                    <a:pt x="51435" y="12700"/>
                  </a:lnTo>
                  <a:lnTo>
                    <a:pt x="51435" y="6350"/>
                  </a:lnTo>
                  <a:lnTo>
                    <a:pt x="51435" y="12700"/>
                  </a:lnTo>
                  <a:cubicBezTo>
                    <a:pt x="29972" y="12700"/>
                    <a:pt x="12700" y="29845"/>
                    <a:pt x="12700" y="5105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153716" y="7844285"/>
            <a:ext cx="4861922" cy="77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DEVELOPERS · TECH INTERVIEWERS · POWER USERS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35941" y="2913907"/>
            <a:ext cx="3025226" cy="1869729"/>
            <a:chOff x="0" y="0"/>
            <a:chExt cx="4033634" cy="2492972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4033647" cy="2493010"/>
            </a:xfrm>
            <a:custGeom>
              <a:avLst/>
              <a:gdLst/>
              <a:ahLst/>
              <a:cxnLst/>
              <a:rect l="l" t="t" r="r" b="b"/>
              <a:pathLst>
                <a:path w="4033647" h="2493010">
                  <a:moveTo>
                    <a:pt x="0" y="0"/>
                  </a:moveTo>
                  <a:lnTo>
                    <a:pt x="4033647" y="0"/>
                  </a:lnTo>
                  <a:lnTo>
                    <a:pt x="4033647" y="2493010"/>
                  </a:lnTo>
                  <a:lnTo>
                    <a:pt x="0" y="2493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7" r="-137" b="1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6535941" y="5107934"/>
            <a:ext cx="4058688" cy="46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📱</a:t>
            </a:r>
            <a:r>
              <a:rPr lang="en-US" sz="2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Telegram Bot Interface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5941" y="5651602"/>
            <a:ext cx="5215976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Send CV as file to GhostCue bot. Instant questions, real-time nudges, and full structured PDF report delivered post-interview.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31178" y="7813177"/>
            <a:ext cx="5124745" cy="550221"/>
            <a:chOff x="0" y="0"/>
            <a:chExt cx="6832994" cy="7336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32981" cy="733679"/>
            </a:xfrm>
            <a:custGeom>
              <a:avLst/>
              <a:gdLst/>
              <a:ahLst/>
              <a:cxnLst/>
              <a:rect l="l" t="t" r="r" b="b"/>
              <a:pathLst>
                <a:path w="6832981" h="733679">
                  <a:moveTo>
                    <a:pt x="0" y="51054"/>
                  </a:moveTo>
                  <a:cubicBezTo>
                    <a:pt x="0" y="22733"/>
                    <a:pt x="23241" y="0"/>
                    <a:pt x="51689" y="0"/>
                  </a:cubicBezTo>
                  <a:lnTo>
                    <a:pt x="6781292" y="0"/>
                  </a:lnTo>
                  <a:lnTo>
                    <a:pt x="6781292" y="6350"/>
                  </a:lnTo>
                  <a:lnTo>
                    <a:pt x="6781292" y="0"/>
                  </a:lnTo>
                  <a:cubicBezTo>
                    <a:pt x="6809740" y="0"/>
                    <a:pt x="6832981" y="22733"/>
                    <a:pt x="6832981" y="51054"/>
                  </a:cubicBezTo>
                  <a:lnTo>
                    <a:pt x="6826631" y="51054"/>
                  </a:lnTo>
                  <a:lnTo>
                    <a:pt x="6832981" y="51054"/>
                  </a:lnTo>
                  <a:lnTo>
                    <a:pt x="6832981" y="682625"/>
                  </a:lnTo>
                  <a:lnTo>
                    <a:pt x="6826631" y="682625"/>
                  </a:lnTo>
                  <a:lnTo>
                    <a:pt x="6832981" y="682625"/>
                  </a:lnTo>
                  <a:cubicBezTo>
                    <a:pt x="6832981" y="710946"/>
                    <a:pt x="6809740" y="733679"/>
                    <a:pt x="6781292" y="733679"/>
                  </a:cubicBezTo>
                  <a:lnTo>
                    <a:pt x="6781292" y="727329"/>
                  </a:lnTo>
                  <a:lnTo>
                    <a:pt x="6781292" y="733679"/>
                  </a:lnTo>
                  <a:lnTo>
                    <a:pt x="51689" y="733679"/>
                  </a:lnTo>
                  <a:lnTo>
                    <a:pt x="51689" y="727329"/>
                  </a:lnTo>
                  <a:lnTo>
                    <a:pt x="51689" y="733679"/>
                  </a:lnTo>
                  <a:cubicBezTo>
                    <a:pt x="23241" y="733679"/>
                    <a:pt x="0" y="710819"/>
                    <a:pt x="0" y="682625"/>
                  </a:cubicBezTo>
                  <a:lnTo>
                    <a:pt x="0" y="51054"/>
                  </a:lnTo>
                  <a:lnTo>
                    <a:pt x="6350" y="51054"/>
                  </a:lnTo>
                  <a:lnTo>
                    <a:pt x="0" y="51054"/>
                  </a:lnTo>
                  <a:moveTo>
                    <a:pt x="12700" y="51054"/>
                  </a:moveTo>
                  <a:lnTo>
                    <a:pt x="12700" y="682625"/>
                  </a:lnTo>
                  <a:lnTo>
                    <a:pt x="6350" y="682625"/>
                  </a:lnTo>
                  <a:lnTo>
                    <a:pt x="12700" y="682625"/>
                  </a:lnTo>
                  <a:cubicBezTo>
                    <a:pt x="12700" y="703707"/>
                    <a:pt x="30099" y="720979"/>
                    <a:pt x="51689" y="720979"/>
                  </a:cubicBezTo>
                  <a:lnTo>
                    <a:pt x="6781292" y="720979"/>
                  </a:lnTo>
                  <a:cubicBezTo>
                    <a:pt x="6802882" y="720979"/>
                    <a:pt x="6820281" y="703707"/>
                    <a:pt x="6820281" y="682625"/>
                  </a:cubicBezTo>
                  <a:lnTo>
                    <a:pt x="6820281" y="51054"/>
                  </a:lnTo>
                  <a:cubicBezTo>
                    <a:pt x="6820281" y="29972"/>
                    <a:pt x="6802882" y="12700"/>
                    <a:pt x="6781292" y="12700"/>
                  </a:cubicBezTo>
                  <a:lnTo>
                    <a:pt x="51689" y="12700"/>
                  </a:lnTo>
                  <a:lnTo>
                    <a:pt x="51689" y="6350"/>
                  </a:lnTo>
                  <a:lnTo>
                    <a:pt x="51689" y="12700"/>
                  </a:lnTo>
                  <a:cubicBezTo>
                    <a:pt x="30099" y="12700"/>
                    <a:pt x="12700" y="29972"/>
                    <a:pt x="12700" y="5105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6712896" y="7844428"/>
            <a:ext cx="4761309" cy="42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HR TEAMS · RECRUITERS · HIRING MANAGERS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95264" y="2913907"/>
            <a:ext cx="3025083" cy="1869577"/>
            <a:chOff x="0" y="0"/>
            <a:chExt cx="4033444" cy="2492769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4033393" cy="2492756"/>
            </a:xfrm>
            <a:custGeom>
              <a:avLst/>
              <a:gdLst/>
              <a:ahLst/>
              <a:cxnLst/>
              <a:rect l="l" t="t" r="r" b="b"/>
              <a:pathLst>
                <a:path w="4033393" h="2492756">
                  <a:moveTo>
                    <a:pt x="0" y="0"/>
                  </a:moveTo>
                  <a:lnTo>
                    <a:pt x="4033393" y="0"/>
                  </a:lnTo>
                  <a:lnTo>
                    <a:pt x="4033393" y="2492756"/>
                  </a:lnTo>
                  <a:lnTo>
                    <a:pt x="0" y="2492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5" r="-136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2095264" y="5107781"/>
            <a:ext cx="4300538" cy="46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💬</a:t>
            </a:r>
            <a:r>
              <a:rPr lang="en-US" sz="2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WhatsApp Bot Interface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95264" y="5651449"/>
            <a:ext cx="5215833" cy="141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Send CV via WhatsApp Business. Questions, nudges, and full PDF report in chat. Powered by Twilio WhatsApp API.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090502" y="7370121"/>
            <a:ext cx="5225358" cy="904580"/>
            <a:chOff x="0" y="0"/>
            <a:chExt cx="6967144" cy="120610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67220" cy="1206119"/>
            </a:xfrm>
            <a:custGeom>
              <a:avLst/>
              <a:gdLst/>
              <a:ahLst/>
              <a:cxnLst/>
              <a:rect l="l" t="t" r="r" b="b"/>
              <a:pathLst>
                <a:path w="6967220" h="1206119">
                  <a:moveTo>
                    <a:pt x="0" y="51054"/>
                  </a:moveTo>
                  <a:cubicBezTo>
                    <a:pt x="0" y="22733"/>
                    <a:pt x="23114" y="0"/>
                    <a:pt x="51435" y="0"/>
                  </a:cubicBezTo>
                  <a:lnTo>
                    <a:pt x="6915785" y="0"/>
                  </a:lnTo>
                  <a:lnTo>
                    <a:pt x="6915785" y="6350"/>
                  </a:lnTo>
                  <a:lnTo>
                    <a:pt x="6915785" y="0"/>
                  </a:lnTo>
                  <a:cubicBezTo>
                    <a:pt x="6944106" y="0"/>
                    <a:pt x="6967220" y="22733"/>
                    <a:pt x="6967220" y="51054"/>
                  </a:cubicBezTo>
                  <a:lnTo>
                    <a:pt x="6960870" y="51054"/>
                  </a:lnTo>
                  <a:lnTo>
                    <a:pt x="6967220" y="51054"/>
                  </a:lnTo>
                  <a:lnTo>
                    <a:pt x="6967220" y="1155065"/>
                  </a:lnTo>
                  <a:lnTo>
                    <a:pt x="6960870" y="1155065"/>
                  </a:lnTo>
                  <a:lnTo>
                    <a:pt x="6967220" y="1155065"/>
                  </a:lnTo>
                  <a:cubicBezTo>
                    <a:pt x="6967220" y="1183259"/>
                    <a:pt x="6944106" y="1206119"/>
                    <a:pt x="6915785" y="1206119"/>
                  </a:cubicBezTo>
                  <a:lnTo>
                    <a:pt x="6915785" y="1199769"/>
                  </a:lnTo>
                  <a:lnTo>
                    <a:pt x="6915785" y="1206119"/>
                  </a:lnTo>
                  <a:lnTo>
                    <a:pt x="51435" y="1206119"/>
                  </a:lnTo>
                  <a:lnTo>
                    <a:pt x="51435" y="1199769"/>
                  </a:lnTo>
                  <a:lnTo>
                    <a:pt x="51435" y="1206119"/>
                  </a:lnTo>
                  <a:cubicBezTo>
                    <a:pt x="23114" y="1206119"/>
                    <a:pt x="0" y="1183259"/>
                    <a:pt x="0" y="1155065"/>
                  </a:cubicBezTo>
                  <a:lnTo>
                    <a:pt x="0" y="51054"/>
                  </a:lnTo>
                  <a:lnTo>
                    <a:pt x="6350" y="51054"/>
                  </a:lnTo>
                  <a:lnTo>
                    <a:pt x="0" y="51054"/>
                  </a:lnTo>
                  <a:moveTo>
                    <a:pt x="12700" y="51054"/>
                  </a:moveTo>
                  <a:lnTo>
                    <a:pt x="12700" y="1155065"/>
                  </a:lnTo>
                  <a:lnTo>
                    <a:pt x="6350" y="1155065"/>
                  </a:lnTo>
                  <a:lnTo>
                    <a:pt x="12700" y="1155065"/>
                  </a:lnTo>
                  <a:cubicBezTo>
                    <a:pt x="12700" y="1176147"/>
                    <a:pt x="29972" y="1193419"/>
                    <a:pt x="51435" y="1193419"/>
                  </a:cubicBezTo>
                  <a:lnTo>
                    <a:pt x="6915785" y="1193419"/>
                  </a:lnTo>
                  <a:cubicBezTo>
                    <a:pt x="6937248" y="1193419"/>
                    <a:pt x="6954520" y="1176274"/>
                    <a:pt x="6954520" y="1155065"/>
                  </a:cubicBezTo>
                  <a:lnTo>
                    <a:pt x="6954520" y="51054"/>
                  </a:lnTo>
                  <a:cubicBezTo>
                    <a:pt x="6954520" y="29972"/>
                    <a:pt x="6937248" y="12700"/>
                    <a:pt x="6915785" y="12700"/>
                  </a:cubicBezTo>
                  <a:lnTo>
                    <a:pt x="51435" y="12700"/>
                  </a:lnTo>
                  <a:lnTo>
                    <a:pt x="51435" y="6350"/>
                  </a:lnTo>
                  <a:lnTo>
                    <a:pt x="51435" y="12700"/>
                  </a:lnTo>
                  <a:cubicBezTo>
                    <a:pt x="29972" y="12700"/>
                    <a:pt x="12700" y="29845"/>
                    <a:pt x="12700" y="5105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2272220" y="7401373"/>
            <a:ext cx="4861922" cy="775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NON-TECHNICAL RECRUITERS · CAMPUS HIRING · MOBILE-FIRST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6760" y="8936088"/>
            <a:ext cx="16334480" cy="52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 i="1">
                <a:solidFill>
                  <a:srgbClr val="CCEEE8"/>
                </a:solidFill>
                <a:latin typeface="Lato Italics"/>
                <a:ea typeface="Lato Italics"/>
                <a:cs typeface="Lato Italics"/>
                <a:sym typeface="Lato Italics"/>
              </a:rPr>
              <a:t>All three interfaces are powered by the exact same OpenClaw + Whisper + Cognitive RAM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113207" y="592188"/>
            <a:ext cx="11564245" cy="665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Does Their Resume Actually Match Their Answers?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3207" y="1296886"/>
            <a:ext cx="14061434" cy="103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 i="1">
                <a:solidFill>
                  <a:srgbClr val="282824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GhostCue's Gap Detector catches the difference between what candidates claim and what they actually know.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13207" y="2719235"/>
            <a:ext cx="6782095" cy="6782095"/>
            <a:chOff x="0" y="0"/>
            <a:chExt cx="9042794" cy="9042794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042781" cy="9042781"/>
            </a:xfrm>
            <a:custGeom>
              <a:avLst/>
              <a:gdLst/>
              <a:ahLst/>
              <a:cxnLst/>
              <a:rect l="l" t="t" r="r" b="b"/>
              <a:pathLst>
                <a:path w="9042781" h="9042781">
                  <a:moveTo>
                    <a:pt x="0" y="0"/>
                  </a:moveTo>
                  <a:lnTo>
                    <a:pt x="9042781" y="0"/>
                  </a:lnTo>
                  <a:lnTo>
                    <a:pt x="9042781" y="9042781"/>
                  </a:lnTo>
                  <a:lnTo>
                    <a:pt x="0" y="9042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113207" y="2719235"/>
            <a:ext cx="6782095" cy="6782095"/>
            <a:chOff x="0" y="0"/>
            <a:chExt cx="9042794" cy="9042794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9042781" cy="9042781"/>
            </a:xfrm>
            <a:custGeom>
              <a:avLst/>
              <a:gdLst/>
              <a:ahLst/>
              <a:cxnLst/>
              <a:rect l="l" t="t" r="r" b="b"/>
              <a:pathLst>
                <a:path w="9042781" h="9042781">
                  <a:moveTo>
                    <a:pt x="0" y="0"/>
                  </a:moveTo>
                  <a:lnTo>
                    <a:pt x="9042781" y="0"/>
                  </a:lnTo>
                  <a:lnTo>
                    <a:pt x="9042781" y="9042781"/>
                  </a:lnTo>
                  <a:lnTo>
                    <a:pt x="0" y="9042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401918" y="3633340"/>
            <a:ext cx="6782095" cy="3333750"/>
            <a:chOff x="0" y="0"/>
            <a:chExt cx="9042794" cy="44450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042781" cy="4445000"/>
            </a:xfrm>
            <a:custGeom>
              <a:avLst/>
              <a:gdLst/>
              <a:ahLst/>
              <a:cxnLst/>
              <a:rect l="l" t="t" r="r" b="b"/>
              <a:pathLst>
                <a:path w="9042781" h="4445000">
                  <a:moveTo>
                    <a:pt x="0" y="0"/>
                  </a:moveTo>
                  <a:lnTo>
                    <a:pt x="9042781" y="0"/>
                  </a:lnTo>
                  <a:lnTo>
                    <a:pt x="9042781" y="4445000"/>
                  </a:lnTo>
                  <a:lnTo>
                    <a:pt x="0" y="444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" b="-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401918" y="7596035"/>
            <a:ext cx="6782095" cy="991048"/>
            <a:chOff x="0" y="0"/>
            <a:chExt cx="9042794" cy="13213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042781" cy="1321435"/>
            </a:xfrm>
            <a:custGeom>
              <a:avLst/>
              <a:gdLst/>
              <a:ahLst/>
              <a:cxnLst/>
              <a:rect l="l" t="t" r="r" b="b"/>
              <a:pathLst>
                <a:path w="9042781" h="1321435">
                  <a:moveTo>
                    <a:pt x="0" y="40767"/>
                  </a:moveTo>
                  <a:cubicBezTo>
                    <a:pt x="0" y="18288"/>
                    <a:pt x="18288" y="0"/>
                    <a:pt x="40767" y="0"/>
                  </a:cubicBezTo>
                  <a:lnTo>
                    <a:pt x="9002014" y="0"/>
                  </a:lnTo>
                  <a:cubicBezTo>
                    <a:pt x="9024493" y="0"/>
                    <a:pt x="9042781" y="18288"/>
                    <a:pt x="9042781" y="40767"/>
                  </a:cubicBezTo>
                  <a:lnTo>
                    <a:pt x="9042781" y="1280668"/>
                  </a:lnTo>
                  <a:cubicBezTo>
                    <a:pt x="9042781" y="1303147"/>
                    <a:pt x="9024493" y="1321435"/>
                    <a:pt x="9002014" y="1321435"/>
                  </a:cubicBezTo>
                  <a:lnTo>
                    <a:pt x="40767" y="1321435"/>
                  </a:lnTo>
                  <a:cubicBezTo>
                    <a:pt x="18288" y="1321435"/>
                    <a:pt x="0" y="1303147"/>
                    <a:pt x="0" y="1280668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605667" y="7881938"/>
            <a:ext cx="254641" cy="203749"/>
            <a:chOff x="0" y="0"/>
            <a:chExt cx="339522" cy="271666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339471" cy="271653"/>
            </a:xfrm>
            <a:custGeom>
              <a:avLst/>
              <a:gdLst/>
              <a:ahLst/>
              <a:cxnLst/>
              <a:rect l="l" t="t" r="r" b="b"/>
              <a:pathLst>
                <a:path w="339471" h="271653">
                  <a:moveTo>
                    <a:pt x="0" y="0"/>
                  </a:moveTo>
                  <a:lnTo>
                    <a:pt x="339471" y="0"/>
                  </a:lnTo>
                  <a:lnTo>
                    <a:pt x="339471" y="271653"/>
                  </a:lnTo>
                  <a:lnTo>
                    <a:pt x="0" y="271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36" r="-1451" b="-4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064058" y="7764809"/>
            <a:ext cx="5916216" cy="58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62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78 / 100 — Candidate Integrity Score</a:t>
            </a:r>
            <a:r>
              <a:rPr lang="en-US" sz="15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calculated post-session and delivered across all interfaces.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654673" y="692048"/>
            <a:ext cx="10524534" cy="70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Who's the Better Hire? Let the Data Decide.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4673" y="1446314"/>
            <a:ext cx="14978510" cy="110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374" b="1" i="1">
                <a:solidFill>
                  <a:srgbClr val="282824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After interviewing two candidates for the same role, GhostCue builds an instant comparison report.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4673" y="2946949"/>
            <a:ext cx="2713434" cy="35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Trigger Commands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54673" y="3491951"/>
            <a:ext cx="7224417" cy="1966912"/>
            <a:chOff x="0" y="0"/>
            <a:chExt cx="9632556" cy="26225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32569" cy="2622550"/>
            </a:xfrm>
            <a:custGeom>
              <a:avLst/>
              <a:gdLst/>
              <a:ahLst/>
              <a:cxnLst/>
              <a:rect l="l" t="t" r="r" b="b"/>
              <a:pathLst>
                <a:path w="9632569" h="2622550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9589135" y="0"/>
                  </a:lnTo>
                  <a:cubicBezTo>
                    <a:pt x="9613138" y="0"/>
                    <a:pt x="9632569" y="19431"/>
                    <a:pt x="9632569" y="43434"/>
                  </a:cubicBezTo>
                  <a:lnTo>
                    <a:pt x="9632569" y="2579116"/>
                  </a:lnTo>
                  <a:cubicBezTo>
                    <a:pt x="9632569" y="2603119"/>
                    <a:pt x="9613138" y="2622550"/>
                    <a:pt x="9589135" y="2622550"/>
                  </a:cubicBezTo>
                  <a:lnTo>
                    <a:pt x="43434" y="2622550"/>
                  </a:lnTo>
                  <a:cubicBezTo>
                    <a:pt x="19431" y="2622550"/>
                    <a:pt x="0" y="2603119"/>
                    <a:pt x="0" y="2579116"/>
                  </a:cubicBezTo>
                  <a:close/>
                </a:path>
              </a:pathLst>
            </a:custGeom>
            <a:solidFill>
              <a:srgbClr val="E2DFD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43958" y="3491951"/>
            <a:ext cx="7245848" cy="1966912"/>
            <a:chOff x="0" y="0"/>
            <a:chExt cx="9661131" cy="26225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61144" cy="2622550"/>
            </a:xfrm>
            <a:custGeom>
              <a:avLst/>
              <a:gdLst/>
              <a:ahLst/>
              <a:cxnLst/>
              <a:rect l="l" t="t" r="r" b="b"/>
              <a:pathLst>
                <a:path w="9661144" h="2622550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9617710" y="0"/>
                  </a:lnTo>
                  <a:cubicBezTo>
                    <a:pt x="9641713" y="0"/>
                    <a:pt x="9661144" y="19431"/>
                    <a:pt x="9661144" y="43434"/>
                  </a:cubicBezTo>
                  <a:lnTo>
                    <a:pt x="9661144" y="2579116"/>
                  </a:lnTo>
                  <a:cubicBezTo>
                    <a:pt x="9661144" y="2603119"/>
                    <a:pt x="9641713" y="2622550"/>
                    <a:pt x="9617710" y="2622550"/>
                  </a:cubicBezTo>
                  <a:lnTo>
                    <a:pt x="43434" y="2622550"/>
                  </a:lnTo>
                  <a:cubicBezTo>
                    <a:pt x="19431" y="2622550"/>
                    <a:pt x="0" y="2603119"/>
                    <a:pt x="0" y="2579116"/>
                  </a:cubicBezTo>
                  <a:close/>
                </a:path>
              </a:pathLst>
            </a:custGeom>
            <a:solidFill>
              <a:srgbClr val="E2DFD9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915268" y="3642274"/>
            <a:ext cx="6703219" cy="159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Terminal:</a:t>
            </a:r>
          </a:p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ghostcue compare candidate_1 candidate_2</a:t>
            </a:r>
          </a:p>
          <a:p>
            <a:pPr algn="l">
              <a:lnSpc>
                <a:spcPts val="2375"/>
              </a:lnSpc>
            </a:pPr>
            <a:endParaRPr lang="en-US" sz="1687">
              <a:solidFill>
                <a:srgbClr val="005CC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Telegram / WhatsApp:</a:t>
            </a:r>
          </a:p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compare [Candidate A] vs [Candidate B]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4673" y="5626741"/>
            <a:ext cx="2713434" cy="35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Comparison Table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49911" y="6166990"/>
            <a:ext cx="7233942" cy="3217069"/>
            <a:chOff x="0" y="0"/>
            <a:chExt cx="9645256" cy="42894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645269" cy="4289425"/>
            </a:xfrm>
            <a:custGeom>
              <a:avLst/>
              <a:gdLst/>
              <a:ahLst/>
              <a:cxnLst/>
              <a:rect l="l" t="t" r="r" b="b"/>
              <a:pathLst>
                <a:path w="9645269" h="4289425">
                  <a:moveTo>
                    <a:pt x="0" y="49784"/>
                  </a:moveTo>
                  <a:cubicBezTo>
                    <a:pt x="0" y="22225"/>
                    <a:pt x="22352" y="0"/>
                    <a:pt x="49784" y="0"/>
                  </a:cubicBezTo>
                  <a:lnTo>
                    <a:pt x="9595485" y="0"/>
                  </a:lnTo>
                  <a:lnTo>
                    <a:pt x="9595485" y="6350"/>
                  </a:lnTo>
                  <a:lnTo>
                    <a:pt x="9595485" y="0"/>
                  </a:lnTo>
                  <a:cubicBezTo>
                    <a:pt x="9623044" y="0"/>
                    <a:pt x="9645269" y="22225"/>
                    <a:pt x="9645269" y="49784"/>
                  </a:cubicBezTo>
                  <a:lnTo>
                    <a:pt x="9638919" y="49784"/>
                  </a:lnTo>
                  <a:lnTo>
                    <a:pt x="9645269" y="49784"/>
                  </a:lnTo>
                  <a:lnTo>
                    <a:pt x="9645269" y="4239641"/>
                  </a:lnTo>
                  <a:lnTo>
                    <a:pt x="9638919" y="4239641"/>
                  </a:lnTo>
                  <a:lnTo>
                    <a:pt x="9645269" y="4239641"/>
                  </a:lnTo>
                  <a:cubicBezTo>
                    <a:pt x="9645269" y="4267073"/>
                    <a:pt x="9622917" y="4289425"/>
                    <a:pt x="9595485" y="4289425"/>
                  </a:cubicBezTo>
                  <a:lnTo>
                    <a:pt x="9595485" y="4283075"/>
                  </a:lnTo>
                  <a:lnTo>
                    <a:pt x="9595485" y="4289425"/>
                  </a:lnTo>
                  <a:lnTo>
                    <a:pt x="49784" y="4289425"/>
                  </a:lnTo>
                  <a:lnTo>
                    <a:pt x="49784" y="4283075"/>
                  </a:lnTo>
                  <a:lnTo>
                    <a:pt x="49784" y="4289425"/>
                  </a:lnTo>
                  <a:cubicBezTo>
                    <a:pt x="22352" y="4289425"/>
                    <a:pt x="0" y="4267200"/>
                    <a:pt x="0" y="4239641"/>
                  </a:cubicBezTo>
                  <a:lnTo>
                    <a:pt x="0" y="49784"/>
                  </a:lnTo>
                  <a:lnTo>
                    <a:pt x="6350" y="49784"/>
                  </a:lnTo>
                  <a:lnTo>
                    <a:pt x="0" y="49784"/>
                  </a:lnTo>
                  <a:moveTo>
                    <a:pt x="12700" y="49784"/>
                  </a:moveTo>
                  <a:lnTo>
                    <a:pt x="12700" y="4239641"/>
                  </a:lnTo>
                  <a:lnTo>
                    <a:pt x="6350" y="4239641"/>
                  </a:lnTo>
                  <a:lnTo>
                    <a:pt x="12700" y="4239641"/>
                  </a:lnTo>
                  <a:cubicBezTo>
                    <a:pt x="12700" y="4260088"/>
                    <a:pt x="29337" y="4276725"/>
                    <a:pt x="49784" y="4276725"/>
                  </a:cubicBezTo>
                  <a:lnTo>
                    <a:pt x="9595485" y="4276725"/>
                  </a:lnTo>
                  <a:cubicBezTo>
                    <a:pt x="9616059" y="4276725"/>
                    <a:pt x="9632569" y="4260088"/>
                    <a:pt x="9632569" y="4239641"/>
                  </a:cubicBezTo>
                  <a:lnTo>
                    <a:pt x="9632569" y="49784"/>
                  </a:lnTo>
                  <a:cubicBezTo>
                    <a:pt x="9632569" y="29337"/>
                    <a:pt x="9615932" y="12700"/>
                    <a:pt x="9595485" y="12700"/>
                  </a:cubicBezTo>
                  <a:lnTo>
                    <a:pt x="49784" y="12700"/>
                  </a:lnTo>
                  <a:lnTo>
                    <a:pt x="49784" y="6350"/>
                  </a:lnTo>
                  <a:lnTo>
                    <a:pt x="49784" y="12700"/>
                  </a:lnTo>
                  <a:cubicBezTo>
                    <a:pt x="29337" y="12700"/>
                    <a:pt x="12700" y="29337"/>
                    <a:pt x="12700" y="49784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664198" y="6181277"/>
            <a:ext cx="7205367" cy="525066"/>
            <a:chOff x="0" y="0"/>
            <a:chExt cx="9607156" cy="7000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607169" cy="700151"/>
            </a:xfrm>
            <a:custGeom>
              <a:avLst/>
              <a:gdLst/>
              <a:ahLst/>
              <a:cxnLst/>
              <a:rect l="l" t="t" r="r" b="b"/>
              <a:pathLst>
                <a:path w="9607169" h="700151">
                  <a:moveTo>
                    <a:pt x="0" y="0"/>
                  </a:moveTo>
                  <a:lnTo>
                    <a:pt x="9607169" y="0"/>
                  </a:lnTo>
                  <a:lnTo>
                    <a:pt x="9607169" y="700151"/>
                  </a:lnTo>
                  <a:lnTo>
                    <a:pt x="0" y="70015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881340" y="6252420"/>
            <a:ext cx="244331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Metric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68158" y="6252420"/>
            <a:ext cx="1718072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Candidate 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29733" y="6252420"/>
            <a:ext cx="1722834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Candidate B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664198" y="6706343"/>
            <a:ext cx="7205367" cy="534591"/>
            <a:chOff x="0" y="0"/>
            <a:chExt cx="9607156" cy="7127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607169" cy="712851"/>
            </a:xfrm>
            <a:custGeom>
              <a:avLst/>
              <a:gdLst/>
              <a:ahLst/>
              <a:cxnLst/>
              <a:rect l="l" t="t" r="r" b="b"/>
              <a:pathLst>
                <a:path w="9607169" h="712851">
                  <a:moveTo>
                    <a:pt x="0" y="0"/>
                  </a:moveTo>
                  <a:lnTo>
                    <a:pt x="9607169" y="0"/>
                  </a:lnTo>
                  <a:lnTo>
                    <a:pt x="9607169" y="712851"/>
                  </a:lnTo>
                  <a:lnTo>
                    <a:pt x="0" y="7128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881340" y="6777485"/>
            <a:ext cx="244331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Overall Integrity Score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68158" y="6777485"/>
            <a:ext cx="1718072" cy="35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82 </a:t>
            </a:r>
            <a:r>
              <a:rPr lang="en-US" sz="16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29733" y="6777485"/>
            <a:ext cx="1722834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71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664198" y="7240934"/>
            <a:ext cx="7205367" cy="534591"/>
            <a:chOff x="0" y="0"/>
            <a:chExt cx="9607156" cy="7127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607169" cy="712851"/>
            </a:xfrm>
            <a:custGeom>
              <a:avLst/>
              <a:gdLst/>
              <a:ahLst/>
              <a:cxnLst/>
              <a:rect l="l" t="t" r="r" b="b"/>
              <a:pathLst>
                <a:path w="9607169" h="712851">
                  <a:moveTo>
                    <a:pt x="0" y="0"/>
                  </a:moveTo>
                  <a:lnTo>
                    <a:pt x="9607169" y="0"/>
                  </a:lnTo>
                  <a:lnTo>
                    <a:pt x="9607169" y="712851"/>
                  </a:lnTo>
                  <a:lnTo>
                    <a:pt x="0" y="71285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881340" y="7312076"/>
            <a:ext cx="244331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Technical Depth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68158" y="7312076"/>
            <a:ext cx="1718072" cy="35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88 </a:t>
            </a:r>
            <a:r>
              <a:rPr lang="en-US" sz="16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29733" y="7312076"/>
            <a:ext cx="1722834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70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664198" y="7775524"/>
            <a:ext cx="7205367" cy="534591"/>
            <a:chOff x="0" y="0"/>
            <a:chExt cx="9607156" cy="7127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607169" cy="712851"/>
            </a:xfrm>
            <a:custGeom>
              <a:avLst/>
              <a:gdLst/>
              <a:ahLst/>
              <a:cxnLst/>
              <a:rect l="l" t="t" r="r" b="b"/>
              <a:pathLst>
                <a:path w="9607169" h="712851">
                  <a:moveTo>
                    <a:pt x="0" y="0"/>
                  </a:moveTo>
                  <a:lnTo>
                    <a:pt x="9607169" y="0"/>
                  </a:lnTo>
                  <a:lnTo>
                    <a:pt x="9607169" y="712851"/>
                  </a:lnTo>
                  <a:lnTo>
                    <a:pt x="0" y="7128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881340" y="7846666"/>
            <a:ext cx="244331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Resume Honesty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68158" y="7846666"/>
            <a:ext cx="1718072" cy="35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80 </a:t>
            </a:r>
            <a:r>
              <a:rPr lang="en-US" sz="16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29733" y="7846666"/>
            <a:ext cx="1722834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65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664198" y="8310115"/>
            <a:ext cx="7205367" cy="534591"/>
            <a:chOff x="0" y="0"/>
            <a:chExt cx="9607156" cy="71278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607169" cy="712851"/>
            </a:xfrm>
            <a:custGeom>
              <a:avLst/>
              <a:gdLst/>
              <a:ahLst/>
              <a:cxnLst/>
              <a:rect l="l" t="t" r="r" b="b"/>
              <a:pathLst>
                <a:path w="9607169" h="712851">
                  <a:moveTo>
                    <a:pt x="0" y="0"/>
                  </a:moveTo>
                  <a:lnTo>
                    <a:pt x="9607169" y="0"/>
                  </a:lnTo>
                  <a:lnTo>
                    <a:pt x="9607169" y="712851"/>
                  </a:lnTo>
                  <a:lnTo>
                    <a:pt x="0" y="71285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881340" y="8381257"/>
            <a:ext cx="244331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Communication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68158" y="8381257"/>
            <a:ext cx="1718072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79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29733" y="8381257"/>
            <a:ext cx="1722834" cy="35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88 </a:t>
            </a:r>
            <a:r>
              <a:rPr lang="en-US" sz="16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✅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664198" y="8844705"/>
            <a:ext cx="7205367" cy="525066"/>
            <a:chOff x="0" y="0"/>
            <a:chExt cx="9607156" cy="70008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607169" cy="700151"/>
            </a:xfrm>
            <a:custGeom>
              <a:avLst/>
              <a:gdLst/>
              <a:ahLst/>
              <a:cxnLst/>
              <a:rect l="l" t="t" r="r" b="b"/>
              <a:pathLst>
                <a:path w="9607169" h="700151">
                  <a:moveTo>
                    <a:pt x="0" y="0"/>
                  </a:moveTo>
                  <a:lnTo>
                    <a:pt x="9607169" y="0"/>
                  </a:lnTo>
                  <a:lnTo>
                    <a:pt x="9607169" y="700151"/>
                  </a:lnTo>
                  <a:lnTo>
                    <a:pt x="0" y="7001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1881340" y="8915848"/>
            <a:ext cx="244331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Red Flags Detected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68158" y="8915848"/>
            <a:ext cx="1718072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29733" y="8915848"/>
            <a:ext cx="1722834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3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9418139" y="2986830"/>
            <a:ext cx="7224417" cy="1704680"/>
            <a:chOff x="0" y="0"/>
            <a:chExt cx="9632556" cy="227290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632569" cy="2272919"/>
            </a:xfrm>
            <a:custGeom>
              <a:avLst/>
              <a:gdLst/>
              <a:ahLst/>
              <a:cxnLst/>
              <a:rect l="l" t="t" r="r" b="b"/>
              <a:pathLst>
                <a:path w="9632569" h="2272919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9589135" y="0"/>
                  </a:lnTo>
                  <a:cubicBezTo>
                    <a:pt x="9613138" y="0"/>
                    <a:pt x="9632569" y="19431"/>
                    <a:pt x="9632569" y="43434"/>
                  </a:cubicBezTo>
                  <a:lnTo>
                    <a:pt x="9632569" y="2229485"/>
                  </a:lnTo>
                  <a:cubicBezTo>
                    <a:pt x="9632569" y="2253488"/>
                    <a:pt x="9613138" y="2272919"/>
                    <a:pt x="9589135" y="2272919"/>
                  </a:cubicBezTo>
                  <a:lnTo>
                    <a:pt x="43434" y="2272919"/>
                  </a:lnTo>
                  <a:cubicBezTo>
                    <a:pt x="19431" y="2272919"/>
                    <a:pt x="0" y="2253488"/>
                    <a:pt x="0" y="2229485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9635128" y="3296688"/>
            <a:ext cx="271310" cy="216989"/>
            <a:chOff x="0" y="0"/>
            <a:chExt cx="361747" cy="289319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361696" cy="289306"/>
            </a:xfrm>
            <a:custGeom>
              <a:avLst/>
              <a:gdLst/>
              <a:ahLst/>
              <a:cxnLst/>
              <a:rect l="l" t="t" r="r" b="b"/>
              <a:pathLst>
                <a:path w="361696" h="289306">
                  <a:moveTo>
                    <a:pt x="0" y="0"/>
                  </a:moveTo>
                  <a:lnTo>
                    <a:pt x="361696" y="0"/>
                  </a:lnTo>
                  <a:lnTo>
                    <a:pt x="361696" y="289306"/>
                  </a:lnTo>
                  <a:lnTo>
                    <a:pt x="0" y="28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52" r="-14" b="-1360"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10123437" y="3168996"/>
            <a:ext cx="6302131" cy="126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AI Verdict:</a:t>
            </a:r>
            <a:r>
              <a:rPr lang="en-US" sz="16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Candidate A demonstrates stronger system design depth and resume accuracy; Candidate B shows better communication fluency and culture signals. </a:t>
            </a:r>
            <a:r>
              <a:rPr lang="en-US" sz="1687">
                <a:solidFill>
                  <a:srgbClr val="00C9A7"/>
                </a:solidFill>
                <a:latin typeface="Lato"/>
                <a:ea typeface="Lato"/>
                <a:cs typeface="Lato"/>
                <a:sym typeface="Lato"/>
              </a:rPr>
              <a:t>Recommend Candidate A for the senior backend role.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418139" y="4840338"/>
            <a:ext cx="7224417" cy="65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Full comparison report exported as PDF — delivered via Terminal, Telegram, or WhatsApp. Human approval required before any decision is shared.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030293" y="524323"/>
            <a:ext cx="5153768" cy="58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Built for Every Hiring Role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020768" y="1318622"/>
            <a:ext cx="6077398" cy="1224858"/>
            <a:chOff x="0" y="0"/>
            <a:chExt cx="8103197" cy="1633144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8077835" cy="1607693"/>
            </a:xfrm>
            <a:custGeom>
              <a:avLst/>
              <a:gdLst/>
              <a:ahLst/>
              <a:cxnLst/>
              <a:rect l="l" t="t" r="r" b="b"/>
              <a:pathLst>
                <a:path w="8077835" h="1607693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7954391" y="0"/>
                  </a:lnTo>
                  <a:cubicBezTo>
                    <a:pt x="8022590" y="0"/>
                    <a:pt x="8077835" y="54610"/>
                    <a:pt x="8077835" y="121920"/>
                  </a:cubicBezTo>
                  <a:lnTo>
                    <a:pt x="8077835" y="1485773"/>
                  </a:lnTo>
                  <a:cubicBezTo>
                    <a:pt x="8077835" y="1553083"/>
                    <a:pt x="8022590" y="1607693"/>
                    <a:pt x="7954391" y="1607693"/>
                  </a:cubicBezTo>
                  <a:lnTo>
                    <a:pt x="123444" y="1607693"/>
                  </a:lnTo>
                  <a:cubicBezTo>
                    <a:pt x="55245" y="1607693"/>
                    <a:pt x="0" y="1553083"/>
                    <a:pt x="0" y="1485773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8103235" cy="1633093"/>
            </a:xfrm>
            <a:custGeom>
              <a:avLst/>
              <a:gdLst/>
              <a:ahLst/>
              <a:cxnLst/>
              <a:rect l="l" t="t" r="r" b="b"/>
              <a:pathLst>
                <a:path w="8103235" h="1633093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7967091" y="0"/>
                  </a:lnTo>
                  <a:lnTo>
                    <a:pt x="7967091" y="12700"/>
                  </a:lnTo>
                  <a:lnTo>
                    <a:pt x="7967091" y="0"/>
                  </a:lnTo>
                  <a:cubicBezTo>
                    <a:pt x="8042148" y="0"/>
                    <a:pt x="8103235" y="60071"/>
                    <a:pt x="8103235" y="134620"/>
                  </a:cubicBezTo>
                  <a:lnTo>
                    <a:pt x="8090535" y="134620"/>
                  </a:lnTo>
                  <a:lnTo>
                    <a:pt x="8103235" y="134620"/>
                  </a:lnTo>
                  <a:lnTo>
                    <a:pt x="8103235" y="1498473"/>
                  </a:lnTo>
                  <a:lnTo>
                    <a:pt x="8090535" y="1498473"/>
                  </a:lnTo>
                  <a:lnTo>
                    <a:pt x="8103235" y="1498473"/>
                  </a:lnTo>
                  <a:cubicBezTo>
                    <a:pt x="8103235" y="1573022"/>
                    <a:pt x="8042148" y="1633093"/>
                    <a:pt x="7967091" y="1633093"/>
                  </a:cubicBezTo>
                  <a:lnTo>
                    <a:pt x="7967091" y="1620393"/>
                  </a:lnTo>
                  <a:lnTo>
                    <a:pt x="7967091" y="1633093"/>
                  </a:lnTo>
                  <a:lnTo>
                    <a:pt x="136144" y="1633093"/>
                  </a:lnTo>
                  <a:lnTo>
                    <a:pt x="136144" y="1620393"/>
                  </a:lnTo>
                  <a:lnTo>
                    <a:pt x="136144" y="1633093"/>
                  </a:lnTo>
                  <a:cubicBezTo>
                    <a:pt x="61087" y="1633093"/>
                    <a:pt x="0" y="1573022"/>
                    <a:pt x="0" y="149847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98473"/>
                  </a:lnTo>
                  <a:lnTo>
                    <a:pt x="12700" y="1498473"/>
                  </a:lnTo>
                  <a:lnTo>
                    <a:pt x="25400" y="1498473"/>
                  </a:lnTo>
                  <a:cubicBezTo>
                    <a:pt x="25400" y="1558671"/>
                    <a:pt x="74803" y="1607693"/>
                    <a:pt x="136144" y="1607693"/>
                  </a:cubicBezTo>
                  <a:lnTo>
                    <a:pt x="7967091" y="1607693"/>
                  </a:lnTo>
                  <a:cubicBezTo>
                    <a:pt x="8028432" y="1607693"/>
                    <a:pt x="8077835" y="1558671"/>
                    <a:pt x="8077835" y="1498473"/>
                  </a:cubicBezTo>
                  <a:lnTo>
                    <a:pt x="8077835" y="134620"/>
                  </a:lnTo>
                  <a:cubicBezTo>
                    <a:pt x="8077835" y="74422"/>
                    <a:pt x="8028432" y="25400"/>
                    <a:pt x="7967091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011243" y="1328147"/>
            <a:ext cx="76200" cy="1205808"/>
            <a:chOff x="0" y="0"/>
            <a:chExt cx="101600" cy="16077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" cy="1607693"/>
            </a:xfrm>
            <a:custGeom>
              <a:avLst/>
              <a:gdLst/>
              <a:ahLst/>
              <a:cxnLst/>
              <a:rect l="l" t="t" r="r" b="b"/>
              <a:pathLst>
                <a:path w="101600" h="1607693">
                  <a:moveTo>
                    <a:pt x="0" y="35433"/>
                  </a:moveTo>
                  <a:cubicBezTo>
                    <a:pt x="0" y="15875"/>
                    <a:pt x="15875" y="0"/>
                    <a:pt x="35433" y="0"/>
                  </a:cubicBezTo>
                  <a:lnTo>
                    <a:pt x="66167" y="0"/>
                  </a:lnTo>
                  <a:cubicBezTo>
                    <a:pt x="85725" y="0"/>
                    <a:pt x="101600" y="15875"/>
                    <a:pt x="101600" y="35433"/>
                  </a:cubicBezTo>
                  <a:lnTo>
                    <a:pt x="101600" y="1572260"/>
                  </a:lnTo>
                  <a:cubicBezTo>
                    <a:pt x="101600" y="1591818"/>
                    <a:pt x="85725" y="1607693"/>
                    <a:pt x="66167" y="1607693"/>
                  </a:cubicBezTo>
                  <a:lnTo>
                    <a:pt x="35433" y="1607693"/>
                  </a:lnTo>
                  <a:cubicBezTo>
                    <a:pt x="15875" y="1607693"/>
                    <a:pt x="0" y="1591818"/>
                    <a:pt x="0" y="157226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3283591" y="1505245"/>
            <a:ext cx="2215010" cy="305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👤</a:t>
            </a: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Hiring Manager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83591" y="1848441"/>
            <a:ext cx="5608882" cy="48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AI-generated candidate-specific questions on WhatsApp — zero manual prep before every interview.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89834" y="1318622"/>
            <a:ext cx="6077398" cy="1224858"/>
            <a:chOff x="0" y="0"/>
            <a:chExt cx="8103197" cy="1633144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8077835" cy="1607693"/>
            </a:xfrm>
            <a:custGeom>
              <a:avLst/>
              <a:gdLst/>
              <a:ahLst/>
              <a:cxnLst/>
              <a:rect l="l" t="t" r="r" b="b"/>
              <a:pathLst>
                <a:path w="8077835" h="1607693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7954391" y="0"/>
                  </a:lnTo>
                  <a:cubicBezTo>
                    <a:pt x="8022590" y="0"/>
                    <a:pt x="8077835" y="54610"/>
                    <a:pt x="8077835" y="121920"/>
                  </a:cubicBezTo>
                  <a:lnTo>
                    <a:pt x="8077835" y="1485773"/>
                  </a:lnTo>
                  <a:cubicBezTo>
                    <a:pt x="8077835" y="1553083"/>
                    <a:pt x="8022590" y="1607693"/>
                    <a:pt x="7954391" y="1607693"/>
                  </a:cubicBezTo>
                  <a:lnTo>
                    <a:pt x="123444" y="1607693"/>
                  </a:lnTo>
                  <a:cubicBezTo>
                    <a:pt x="55245" y="1607693"/>
                    <a:pt x="0" y="1553083"/>
                    <a:pt x="0" y="1485773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8103235" cy="1633093"/>
            </a:xfrm>
            <a:custGeom>
              <a:avLst/>
              <a:gdLst/>
              <a:ahLst/>
              <a:cxnLst/>
              <a:rect l="l" t="t" r="r" b="b"/>
              <a:pathLst>
                <a:path w="8103235" h="1633093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7967091" y="0"/>
                  </a:lnTo>
                  <a:lnTo>
                    <a:pt x="7967091" y="12700"/>
                  </a:lnTo>
                  <a:lnTo>
                    <a:pt x="7967091" y="0"/>
                  </a:lnTo>
                  <a:cubicBezTo>
                    <a:pt x="8042148" y="0"/>
                    <a:pt x="8103235" y="60071"/>
                    <a:pt x="8103235" y="134620"/>
                  </a:cubicBezTo>
                  <a:lnTo>
                    <a:pt x="8090535" y="134620"/>
                  </a:lnTo>
                  <a:lnTo>
                    <a:pt x="8103235" y="134620"/>
                  </a:lnTo>
                  <a:lnTo>
                    <a:pt x="8103235" y="1498473"/>
                  </a:lnTo>
                  <a:lnTo>
                    <a:pt x="8090535" y="1498473"/>
                  </a:lnTo>
                  <a:lnTo>
                    <a:pt x="8103235" y="1498473"/>
                  </a:lnTo>
                  <a:cubicBezTo>
                    <a:pt x="8103235" y="1573022"/>
                    <a:pt x="8042148" y="1633093"/>
                    <a:pt x="7967091" y="1633093"/>
                  </a:cubicBezTo>
                  <a:lnTo>
                    <a:pt x="7967091" y="1620393"/>
                  </a:lnTo>
                  <a:lnTo>
                    <a:pt x="7967091" y="1633093"/>
                  </a:lnTo>
                  <a:lnTo>
                    <a:pt x="136144" y="1633093"/>
                  </a:lnTo>
                  <a:lnTo>
                    <a:pt x="136144" y="1620393"/>
                  </a:lnTo>
                  <a:lnTo>
                    <a:pt x="136144" y="1633093"/>
                  </a:lnTo>
                  <a:cubicBezTo>
                    <a:pt x="61087" y="1633093"/>
                    <a:pt x="0" y="1573022"/>
                    <a:pt x="0" y="149847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98473"/>
                  </a:lnTo>
                  <a:lnTo>
                    <a:pt x="12700" y="1498473"/>
                  </a:lnTo>
                  <a:lnTo>
                    <a:pt x="25400" y="1498473"/>
                  </a:lnTo>
                  <a:cubicBezTo>
                    <a:pt x="25400" y="1558671"/>
                    <a:pt x="74803" y="1607693"/>
                    <a:pt x="136144" y="1607693"/>
                  </a:cubicBezTo>
                  <a:lnTo>
                    <a:pt x="7967091" y="1607693"/>
                  </a:lnTo>
                  <a:cubicBezTo>
                    <a:pt x="8028432" y="1607693"/>
                    <a:pt x="8077835" y="1558671"/>
                    <a:pt x="8077835" y="1498473"/>
                  </a:cubicBezTo>
                  <a:lnTo>
                    <a:pt x="8077835" y="134620"/>
                  </a:lnTo>
                  <a:cubicBezTo>
                    <a:pt x="8077835" y="74422"/>
                    <a:pt x="8028432" y="25400"/>
                    <a:pt x="7967091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180309" y="1328147"/>
            <a:ext cx="76200" cy="1205808"/>
            <a:chOff x="0" y="0"/>
            <a:chExt cx="101600" cy="16077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600" cy="1607693"/>
            </a:xfrm>
            <a:custGeom>
              <a:avLst/>
              <a:gdLst/>
              <a:ahLst/>
              <a:cxnLst/>
              <a:rect l="l" t="t" r="r" b="b"/>
              <a:pathLst>
                <a:path w="101600" h="1607693">
                  <a:moveTo>
                    <a:pt x="0" y="35433"/>
                  </a:moveTo>
                  <a:cubicBezTo>
                    <a:pt x="0" y="15875"/>
                    <a:pt x="15875" y="0"/>
                    <a:pt x="35433" y="0"/>
                  </a:cubicBezTo>
                  <a:lnTo>
                    <a:pt x="66167" y="0"/>
                  </a:lnTo>
                  <a:cubicBezTo>
                    <a:pt x="85725" y="0"/>
                    <a:pt x="101600" y="15875"/>
                    <a:pt x="101600" y="35433"/>
                  </a:cubicBezTo>
                  <a:lnTo>
                    <a:pt x="101600" y="1572260"/>
                  </a:lnTo>
                  <a:cubicBezTo>
                    <a:pt x="101600" y="1591818"/>
                    <a:pt x="85725" y="1607693"/>
                    <a:pt x="66167" y="1607693"/>
                  </a:cubicBezTo>
                  <a:lnTo>
                    <a:pt x="35433" y="1607693"/>
                  </a:lnTo>
                  <a:cubicBezTo>
                    <a:pt x="15875" y="1607693"/>
                    <a:pt x="0" y="1591818"/>
                    <a:pt x="0" y="157226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452667" y="1505245"/>
            <a:ext cx="2215010" cy="305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👤</a:t>
            </a: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Tech Lead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52667" y="1848441"/>
            <a:ext cx="5608882" cy="48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Real-time nudges on Telegram when answers are shallow — never miss a follow-up that reveals depth.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020768" y="2635148"/>
            <a:ext cx="6077398" cy="1224858"/>
            <a:chOff x="0" y="0"/>
            <a:chExt cx="8103197" cy="1633144"/>
          </a:xfrm>
        </p:grpSpPr>
        <p:sp>
          <p:nvSpPr>
            <p:cNvPr id="22" name="Freeform 22"/>
            <p:cNvSpPr/>
            <p:nvPr/>
          </p:nvSpPr>
          <p:spPr>
            <a:xfrm>
              <a:off x="12700" y="12700"/>
              <a:ext cx="8077835" cy="1607693"/>
            </a:xfrm>
            <a:custGeom>
              <a:avLst/>
              <a:gdLst/>
              <a:ahLst/>
              <a:cxnLst/>
              <a:rect l="l" t="t" r="r" b="b"/>
              <a:pathLst>
                <a:path w="8077835" h="1607693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7954391" y="0"/>
                  </a:lnTo>
                  <a:cubicBezTo>
                    <a:pt x="8022590" y="0"/>
                    <a:pt x="8077835" y="54610"/>
                    <a:pt x="8077835" y="121920"/>
                  </a:cubicBezTo>
                  <a:lnTo>
                    <a:pt x="8077835" y="1485773"/>
                  </a:lnTo>
                  <a:cubicBezTo>
                    <a:pt x="8077835" y="1553083"/>
                    <a:pt x="8022590" y="1607693"/>
                    <a:pt x="7954391" y="1607693"/>
                  </a:cubicBezTo>
                  <a:lnTo>
                    <a:pt x="123444" y="1607693"/>
                  </a:lnTo>
                  <a:cubicBezTo>
                    <a:pt x="55245" y="1607693"/>
                    <a:pt x="0" y="1553083"/>
                    <a:pt x="0" y="1485773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8103235" cy="1633093"/>
            </a:xfrm>
            <a:custGeom>
              <a:avLst/>
              <a:gdLst/>
              <a:ahLst/>
              <a:cxnLst/>
              <a:rect l="l" t="t" r="r" b="b"/>
              <a:pathLst>
                <a:path w="8103235" h="1633093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7967091" y="0"/>
                  </a:lnTo>
                  <a:lnTo>
                    <a:pt x="7967091" y="12700"/>
                  </a:lnTo>
                  <a:lnTo>
                    <a:pt x="7967091" y="0"/>
                  </a:lnTo>
                  <a:cubicBezTo>
                    <a:pt x="8042148" y="0"/>
                    <a:pt x="8103235" y="60071"/>
                    <a:pt x="8103235" y="134620"/>
                  </a:cubicBezTo>
                  <a:lnTo>
                    <a:pt x="8090535" y="134620"/>
                  </a:lnTo>
                  <a:lnTo>
                    <a:pt x="8103235" y="134620"/>
                  </a:lnTo>
                  <a:lnTo>
                    <a:pt x="8103235" y="1498473"/>
                  </a:lnTo>
                  <a:lnTo>
                    <a:pt x="8090535" y="1498473"/>
                  </a:lnTo>
                  <a:lnTo>
                    <a:pt x="8103235" y="1498473"/>
                  </a:lnTo>
                  <a:cubicBezTo>
                    <a:pt x="8103235" y="1573022"/>
                    <a:pt x="8042148" y="1633093"/>
                    <a:pt x="7967091" y="1633093"/>
                  </a:cubicBezTo>
                  <a:lnTo>
                    <a:pt x="7967091" y="1620393"/>
                  </a:lnTo>
                  <a:lnTo>
                    <a:pt x="7967091" y="1633093"/>
                  </a:lnTo>
                  <a:lnTo>
                    <a:pt x="136144" y="1633093"/>
                  </a:lnTo>
                  <a:lnTo>
                    <a:pt x="136144" y="1620393"/>
                  </a:lnTo>
                  <a:lnTo>
                    <a:pt x="136144" y="1633093"/>
                  </a:lnTo>
                  <a:cubicBezTo>
                    <a:pt x="61087" y="1633093"/>
                    <a:pt x="0" y="1573022"/>
                    <a:pt x="0" y="149847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98473"/>
                  </a:lnTo>
                  <a:lnTo>
                    <a:pt x="12700" y="1498473"/>
                  </a:lnTo>
                  <a:lnTo>
                    <a:pt x="25400" y="1498473"/>
                  </a:lnTo>
                  <a:cubicBezTo>
                    <a:pt x="25400" y="1558671"/>
                    <a:pt x="74803" y="1607693"/>
                    <a:pt x="136144" y="1607693"/>
                  </a:cubicBezTo>
                  <a:lnTo>
                    <a:pt x="7967091" y="1607693"/>
                  </a:lnTo>
                  <a:cubicBezTo>
                    <a:pt x="8028432" y="1607693"/>
                    <a:pt x="8077835" y="1558671"/>
                    <a:pt x="8077835" y="1498473"/>
                  </a:cubicBezTo>
                  <a:lnTo>
                    <a:pt x="8077835" y="134620"/>
                  </a:lnTo>
                  <a:cubicBezTo>
                    <a:pt x="8077835" y="74422"/>
                    <a:pt x="8028432" y="25400"/>
                    <a:pt x="7967091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3011243" y="2644673"/>
            <a:ext cx="76200" cy="1205808"/>
            <a:chOff x="0" y="0"/>
            <a:chExt cx="101600" cy="16077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600" cy="1607693"/>
            </a:xfrm>
            <a:custGeom>
              <a:avLst/>
              <a:gdLst/>
              <a:ahLst/>
              <a:cxnLst/>
              <a:rect l="l" t="t" r="r" b="b"/>
              <a:pathLst>
                <a:path w="101600" h="1607693">
                  <a:moveTo>
                    <a:pt x="0" y="35433"/>
                  </a:moveTo>
                  <a:cubicBezTo>
                    <a:pt x="0" y="15875"/>
                    <a:pt x="15875" y="0"/>
                    <a:pt x="35433" y="0"/>
                  </a:cubicBezTo>
                  <a:lnTo>
                    <a:pt x="66167" y="0"/>
                  </a:lnTo>
                  <a:cubicBezTo>
                    <a:pt x="85725" y="0"/>
                    <a:pt x="101600" y="15875"/>
                    <a:pt x="101600" y="35433"/>
                  </a:cubicBezTo>
                  <a:lnTo>
                    <a:pt x="101600" y="1572260"/>
                  </a:lnTo>
                  <a:cubicBezTo>
                    <a:pt x="101600" y="1591818"/>
                    <a:pt x="85725" y="1607693"/>
                    <a:pt x="66167" y="1607693"/>
                  </a:cubicBezTo>
                  <a:lnTo>
                    <a:pt x="35433" y="1607693"/>
                  </a:lnTo>
                  <a:cubicBezTo>
                    <a:pt x="15875" y="1607693"/>
                    <a:pt x="0" y="1591818"/>
                    <a:pt x="0" y="157226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3283591" y="2821781"/>
            <a:ext cx="2215010" cy="305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👤</a:t>
            </a: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HR Recruiter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283591" y="3164977"/>
            <a:ext cx="5608882" cy="48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Structured evaluation report on Telegram immediately after every call — close the loop in minutes.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89834" y="2635148"/>
            <a:ext cx="6077398" cy="1224858"/>
            <a:chOff x="0" y="0"/>
            <a:chExt cx="8103197" cy="1633144"/>
          </a:xfrm>
        </p:grpSpPr>
        <p:sp>
          <p:nvSpPr>
            <p:cNvPr id="29" name="Freeform 29"/>
            <p:cNvSpPr/>
            <p:nvPr/>
          </p:nvSpPr>
          <p:spPr>
            <a:xfrm>
              <a:off x="12700" y="12700"/>
              <a:ext cx="8077835" cy="1607693"/>
            </a:xfrm>
            <a:custGeom>
              <a:avLst/>
              <a:gdLst/>
              <a:ahLst/>
              <a:cxnLst/>
              <a:rect l="l" t="t" r="r" b="b"/>
              <a:pathLst>
                <a:path w="8077835" h="1607693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7954391" y="0"/>
                  </a:lnTo>
                  <a:cubicBezTo>
                    <a:pt x="8022590" y="0"/>
                    <a:pt x="8077835" y="54610"/>
                    <a:pt x="8077835" y="121920"/>
                  </a:cubicBezTo>
                  <a:lnTo>
                    <a:pt x="8077835" y="1485773"/>
                  </a:lnTo>
                  <a:cubicBezTo>
                    <a:pt x="8077835" y="1553083"/>
                    <a:pt x="8022590" y="1607693"/>
                    <a:pt x="7954391" y="1607693"/>
                  </a:cubicBezTo>
                  <a:lnTo>
                    <a:pt x="123444" y="1607693"/>
                  </a:lnTo>
                  <a:cubicBezTo>
                    <a:pt x="55245" y="1607693"/>
                    <a:pt x="0" y="1553083"/>
                    <a:pt x="0" y="1485773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8103235" cy="1633093"/>
            </a:xfrm>
            <a:custGeom>
              <a:avLst/>
              <a:gdLst/>
              <a:ahLst/>
              <a:cxnLst/>
              <a:rect l="l" t="t" r="r" b="b"/>
              <a:pathLst>
                <a:path w="8103235" h="1633093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7967091" y="0"/>
                  </a:lnTo>
                  <a:lnTo>
                    <a:pt x="7967091" y="12700"/>
                  </a:lnTo>
                  <a:lnTo>
                    <a:pt x="7967091" y="0"/>
                  </a:lnTo>
                  <a:cubicBezTo>
                    <a:pt x="8042148" y="0"/>
                    <a:pt x="8103235" y="60071"/>
                    <a:pt x="8103235" y="134620"/>
                  </a:cubicBezTo>
                  <a:lnTo>
                    <a:pt x="8090535" y="134620"/>
                  </a:lnTo>
                  <a:lnTo>
                    <a:pt x="8103235" y="134620"/>
                  </a:lnTo>
                  <a:lnTo>
                    <a:pt x="8103235" y="1498473"/>
                  </a:lnTo>
                  <a:lnTo>
                    <a:pt x="8090535" y="1498473"/>
                  </a:lnTo>
                  <a:lnTo>
                    <a:pt x="8103235" y="1498473"/>
                  </a:lnTo>
                  <a:cubicBezTo>
                    <a:pt x="8103235" y="1573022"/>
                    <a:pt x="8042148" y="1633093"/>
                    <a:pt x="7967091" y="1633093"/>
                  </a:cubicBezTo>
                  <a:lnTo>
                    <a:pt x="7967091" y="1620393"/>
                  </a:lnTo>
                  <a:lnTo>
                    <a:pt x="7967091" y="1633093"/>
                  </a:lnTo>
                  <a:lnTo>
                    <a:pt x="136144" y="1633093"/>
                  </a:lnTo>
                  <a:lnTo>
                    <a:pt x="136144" y="1620393"/>
                  </a:lnTo>
                  <a:lnTo>
                    <a:pt x="136144" y="1633093"/>
                  </a:lnTo>
                  <a:cubicBezTo>
                    <a:pt x="61087" y="1633093"/>
                    <a:pt x="0" y="1573022"/>
                    <a:pt x="0" y="149847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98473"/>
                  </a:lnTo>
                  <a:lnTo>
                    <a:pt x="12700" y="1498473"/>
                  </a:lnTo>
                  <a:lnTo>
                    <a:pt x="25400" y="1498473"/>
                  </a:lnTo>
                  <a:cubicBezTo>
                    <a:pt x="25400" y="1558671"/>
                    <a:pt x="74803" y="1607693"/>
                    <a:pt x="136144" y="1607693"/>
                  </a:cubicBezTo>
                  <a:lnTo>
                    <a:pt x="7967091" y="1607693"/>
                  </a:lnTo>
                  <a:cubicBezTo>
                    <a:pt x="8028432" y="1607693"/>
                    <a:pt x="8077835" y="1558671"/>
                    <a:pt x="8077835" y="1498473"/>
                  </a:cubicBezTo>
                  <a:lnTo>
                    <a:pt x="8077835" y="134620"/>
                  </a:lnTo>
                  <a:cubicBezTo>
                    <a:pt x="8077835" y="74422"/>
                    <a:pt x="8028432" y="25400"/>
                    <a:pt x="7967091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180309" y="2644673"/>
            <a:ext cx="76200" cy="1205808"/>
            <a:chOff x="0" y="0"/>
            <a:chExt cx="101600" cy="160774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1600" cy="1607693"/>
            </a:xfrm>
            <a:custGeom>
              <a:avLst/>
              <a:gdLst/>
              <a:ahLst/>
              <a:cxnLst/>
              <a:rect l="l" t="t" r="r" b="b"/>
              <a:pathLst>
                <a:path w="101600" h="1607693">
                  <a:moveTo>
                    <a:pt x="0" y="35433"/>
                  </a:moveTo>
                  <a:cubicBezTo>
                    <a:pt x="0" y="15875"/>
                    <a:pt x="15875" y="0"/>
                    <a:pt x="35433" y="0"/>
                  </a:cubicBezTo>
                  <a:lnTo>
                    <a:pt x="66167" y="0"/>
                  </a:lnTo>
                  <a:cubicBezTo>
                    <a:pt x="85725" y="0"/>
                    <a:pt x="101600" y="15875"/>
                    <a:pt x="101600" y="35433"/>
                  </a:cubicBezTo>
                  <a:lnTo>
                    <a:pt x="101600" y="1572260"/>
                  </a:lnTo>
                  <a:cubicBezTo>
                    <a:pt x="101600" y="1591818"/>
                    <a:pt x="85725" y="1607693"/>
                    <a:pt x="66167" y="1607693"/>
                  </a:cubicBezTo>
                  <a:lnTo>
                    <a:pt x="35433" y="1607693"/>
                  </a:lnTo>
                  <a:cubicBezTo>
                    <a:pt x="15875" y="1607693"/>
                    <a:pt x="0" y="1591818"/>
                    <a:pt x="0" y="157226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9452667" y="2821781"/>
            <a:ext cx="2215010" cy="305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👤</a:t>
            </a: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Campus Recruiter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52667" y="3164977"/>
            <a:ext cx="5608882" cy="48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Upload CVs in WhatsApp and get consistent role-specific questions for every session automatically.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3030293" y="3975049"/>
            <a:ext cx="708717" cy="1063228"/>
            <a:chOff x="0" y="0"/>
            <a:chExt cx="944956" cy="14176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44880" cy="1417574"/>
            </a:xfrm>
            <a:custGeom>
              <a:avLst/>
              <a:gdLst/>
              <a:ahLst/>
              <a:cxnLst/>
              <a:rect l="l" t="t" r="r" b="b"/>
              <a:pathLst>
                <a:path w="944880" h="1417574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lnTo>
                    <a:pt x="944880" y="945134"/>
                  </a:lnTo>
                  <a:cubicBezTo>
                    <a:pt x="944880" y="1206119"/>
                    <a:pt x="733298" y="1417574"/>
                    <a:pt x="472440" y="1417574"/>
                  </a:cubicBezTo>
                  <a:cubicBezTo>
                    <a:pt x="211582" y="1417574"/>
                    <a:pt x="0" y="1206119"/>
                    <a:pt x="0" y="945134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37" name="Freeform 37" descr="preencoded.png"/>
          <p:cNvSpPr/>
          <p:nvPr/>
        </p:nvSpPr>
        <p:spPr>
          <a:xfrm>
            <a:off x="3251749" y="4373766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5" y="0"/>
                </a:lnTo>
                <a:lnTo>
                  <a:pt x="265805" y="265804"/>
                </a:lnTo>
                <a:lnTo>
                  <a:pt x="0" y="265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357" b="-5357"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3849738" y="4133107"/>
            <a:ext cx="2215010" cy="29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Upload CV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3030293" y="5149005"/>
            <a:ext cx="708717" cy="1063228"/>
            <a:chOff x="0" y="0"/>
            <a:chExt cx="944956" cy="141763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44880" cy="1417574"/>
            </a:xfrm>
            <a:custGeom>
              <a:avLst/>
              <a:gdLst/>
              <a:ahLst/>
              <a:cxnLst/>
              <a:rect l="l" t="t" r="r" b="b"/>
              <a:pathLst>
                <a:path w="944880" h="1417574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lnTo>
                    <a:pt x="944880" y="945134"/>
                  </a:lnTo>
                  <a:cubicBezTo>
                    <a:pt x="944880" y="1206119"/>
                    <a:pt x="733298" y="1417574"/>
                    <a:pt x="472440" y="1417574"/>
                  </a:cubicBezTo>
                  <a:cubicBezTo>
                    <a:pt x="211582" y="1417574"/>
                    <a:pt x="0" y="1206119"/>
                    <a:pt x="0" y="945134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41" name="Freeform 41" descr="preencoded.png"/>
          <p:cNvSpPr/>
          <p:nvPr/>
        </p:nvSpPr>
        <p:spPr>
          <a:xfrm>
            <a:off x="3251749" y="5547722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5" y="0"/>
                </a:lnTo>
                <a:lnTo>
                  <a:pt x="265805" y="265805"/>
                </a:lnTo>
                <a:lnTo>
                  <a:pt x="0" y="26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84" r="-1788"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3849738" y="5307063"/>
            <a:ext cx="2231384" cy="29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Get Custom Questions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3030293" y="6322962"/>
            <a:ext cx="708717" cy="1063228"/>
            <a:chOff x="0" y="0"/>
            <a:chExt cx="944956" cy="141763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44880" cy="1417574"/>
            </a:xfrm>
            <a:custGeom>
              <a:avLst/>
              <a:gdLst/>
              <a:ahLst/>
              <a:cxnLst/>
              <a:rect l="l" t="t" r="r" b="b"/>
              <a:pathLst>
                <a:path w="944880" h="1417574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lnTo>
                    <a:pt x="944880" y="945134"/>
                  </a:lnTo>
                  <a:cubicBezTo>
                    <a:pt x="944880" y="1206119"/>
                    <a:pt x="733298" y="1417574"/>
                    <a:pt x="472440" y="1417574"/>
                  </a:cubicBezTo>
                  <a:cubicBezTo>
                    <a:pt x="211582" y="1417574"/>
                    <a:pt x="0" y="1206119"/>
                    <a:pt x="0" y="945134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45" name="Freeform 45" descr="preencoded.png"/>
          <p:cNvSpPr/>
          <p:nvPr/>
        </p:nvSpPr>
        <p:spPr>
          <a:xfrm>
            <a:off x="3251749" y="6721678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5" y="0"/>
                </a:lnTo>
                <a:lnTo>
                  <a:pt x="265805" y="265805"/>
                </a:lnTo>
                <a:lnTo>
                  <a:pt x="0" y="26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928" b="-33931"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3849738" y="6481020"/>
            <a:ext cx="2215010" cy="29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Interview Live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3030293" y="7496918"/>
            <a:ext cx="708717" cy="1063228"/>
            <a:chOff x="0" y="0"/>
            <a:chExt cx="944956" cy="141763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44880" cy="1417574"/>
            </a:xfrm>
            <a:custGeom>
              <a:avLst/>
              <a:gdLst/>
              <a:ahLst/>
              <a:cxnLst/>
              <a:rect l="l" t="t" r="r" b="b"/>
              <a:pathLst>
                <a:path w="944880" h="1417574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lnTo>
                    <a:pt x="944880" y="945134"/>
                  </a:lnTo>
                  <a:cubicBezTo>
                    <a:pt x="944880" y="1206119"/>
                    <a:pt x="733298" y="1417574"/>
                    <a:pt x="472440" y="1417574"/>
                  </a:cubicBezTo>
                  <a:cubicBezTo>
                    <a:pt x="211582" y="1417574"/>
                    <a:pt x="0" y="1206119"/>
                    <a:pt x="0" y="945134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49" name="Freeform 49" descr="preencoded.png"/>
          <p:cNvSpPr/>
          <p:nvPr/>
        </p:nvSpPr>
        <p:spPr>
          <a:xfrm>
            <a:off x="3251749" y="7895634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5" y="0"/>
                </a:lnTo>
                <a:lnTo>
                  <a:pt x="265805" y="265805"/>
                </a:lnTo>
                <a:lnTo>
                  <a:pt x="0" y="26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784" b="-1788"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3849738" y="7654976"/>
            <a:ext cx="2286895" cy="29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Receive Report + Score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3030293" y="8670874"/>
            <a:ext cx="708717" cy="1063228"/>
            <a:chOff x="0" y="0"/>
            <a:chExt cx="944956" cy="141763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44880" cy="1417574"/>
            </a:xfrm>
            <a:custGeom>
              <a:avLst/>
              <a:gdLst/>
              <a:ahLst/>
              <a:cxnLst/>
              <a:rect l="l" t="t" r="r" b="b"/>
              <a:pathLst>
                <a:path w="944880" h="1417574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cubicBezTo>
                    <a:pt x="733298" y="0"/>
                    <a:pt x="944880" y="211582"/>
                    <a:pt x="944880" y="472440"/>
                  </a:cubicBezTo>
                  <a:lnTo>
                    <a:pt x="944880" y="945134"/>
                  </a:lnTo>
                  <a:cubicBezTo>
                    <a:pt x="944880" y="1206119"/>
                    <a:pt x="733298" y="1417574"/>
                    <a:pt x="472440" y="1417574"/>
                  </a:cubicBezTo>
                  <a:cubicBezTo>
                    <a:pt x="211582" y="1417574"/>
                    <a:pt x="0" y="1206119"/>
                    <a:pt x="0" y="945134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53" name="Freeform 53" descr="preencoded.png"/>
          <p:cNvSpPr/>
          <p:nvPr/>
        </p:nvSpPr>
        <p:spPr>
          <a:xfrm>
            <a:off x="3251749" y="9069591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5" y="0"/>
                </a:lnTo>
                <a:lnTo>
                  <a:pt x="265805" y="265804"/>
                </a:lnTo>
                <a:lnTo>
                  <a:pt x="0" y="265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84" r="-1788"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3849738" y="8828932"/>
            <a:ext cx="2215010" cy="29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Compare &amp; Decide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501826" y="592931"/>
            <a:ext cx="5934227" cy="72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1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What Powers GhostCue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01826" y="1659731"/>
            <a:ext cx="7555554" cy="3097416"/>
            <a:chOff x="0" y="0"/>
            <a:chExt cx="10074072" cy="41298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74148" cy="4129913"/>
            </a:xfrm>
            <a:custGeom>
              <a:avLst/>
              <a:gdLst/>
              <a:ahLst/>
              <a:cxnLst/>
              <a:rect l="l" t="t" r="r" b="b"/>
              <a:pathLst>
                <a:path w="10074148" h="4129913">
                  <a:moveTo>
                    <a:pt x="0" y="44323"/>
                  </a:moveTo>
                  <a:cubicBezTo>
                    <a:pt x="0" y="19812"/>
                    <a:pt x="19812" y="0"/>
                    <a:pt x="44323" y="0"/>
                  </a:cubicBezTo>
                  <a:lnTo>
                    <a:pt x="10029825" y="0"/>
                  </a:lnTo>
                  <a:cubicBezTo>
                    <a:pt x="10054336" y="0"/>
                    <a:pt x="10074148" y="19812"/>
                    <a:pt x="10074148" y="44323"/>
                  </a:cubicBezTo>
                  <a:lnTo>
                    <a:pt x="10074148" y="4085590"/>
                  </a:lnTo>
                  <a:cubicBezTo>
                    <a:pt x="10074148" y="4110101"/>
                    <a:pt x="10054336" y="4129913"/>
                    <a:pt x="10029825" y="4129913"/>
                  </a:cubicBezTo>
                  <a:lnTo>
                    <a:pt x="44323" y="4129913"/>
                  </a:lnTo>
                  <a:cubicBezTo>
                    <a:pt x="19812" y="4129913"/>
                    <a:pt x="0" y="4110101"/>
                    <a:pt x="0" y="408559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723282" y="1862138"/>
            <a:ext cx="3057077" cy="37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🖥️</a:t>
            </a:r>
            <a:r>
              <a:rPr lang="en-US" sz="21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Platform &amp; Interfaces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3282" y="2292848"/>
            <a:ext cx="7112641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Terminal: Python CLI via rich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Consolas"/>
                <a:ea typeface="Consolas"/>
                <a:cs typeface="Consolas"/>
                <a:sym typeface="Consolas"/>
              </a:rPr>
              <a:t>Telegram Bot: python-telegram-bot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WhatsApp Bot: Twilio WhatsApp API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Audio Capture: BlackHole (macOS), WASAPI (Windows)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Runtime: Python 3.10+, macOS 12+ / Windows 10/11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30316" y="1659731"/>
            <a:ext cx="7555706" cy="3097416"/>
            <a:chOff x="0" y="0"/>
            <a:chExt cx="10074275" cy="41298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74275" cy="4129913"/>
            </a:xfrm>
            <a:custGeom>
              <a:avLst/>
              <a:gdLst/>
              <a:ahLst/>
              <a:cxnLst/>
              <a:rect l="l" t="t" r="r" b="b"/>
              <a:pathLst>
                <a:path w="10074275" h="4129913">
                  <a:moveTo>
                    <a:pt x="0" y="44323"/>
                  </a:moveTo>
                  <a:cubicBezTo>
                    <a:pt x="0" y="19812"/>
                    <a:pt x="19812" y="0"/>
                    <a:pt x="44323" y="0"/>
                  </a:cubicBezTo>
                  <a:lnTo>
                    <a:pt x="10029952" y="0"/>
                  </a:lnTo>
                  <a:cubicBezTo>
                    <a:pt x="10054463" y="0"/>
                    <a:pt x="10074275" y="19812"/>
                    <a:pt x="10074275" y="44323"/>
                  </a:cubicBezTo>
                  <a:lnTo>
                    <a:pt x="10074275" y="4085590"/>
                  </a:lnTo>
                  <a:cubicBezTo>
                    <a:pt x="10074275" y="4110101"/>
                    <a:pt x="10054463" y="4129913"/>
                    <a:pt x="10029952" y="4129913"/>
                  </a:cubicBezTo>
                  <a:lnTo>
                    <a:pt x="44323" y="4129913"/>
                  </a:lnTo>
                  <a:cubicBezTo>
                    <a:pt x="19812" y="4129913"/>
                    <a:pt x="0" y="4110101"/>
                    <a:pt x="0" y="408559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451772" y="1862138"/>
            <a:ext cx="2768803" cy="37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🤖</a:t>
            </a:r>
            <a:r>
              <a:rPr lang="en-US" sz="21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AI &amp; Agent Layer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51772" y="2292848"/>
            <a:ext cx="7112794" cy="224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Whisper / faster-whisper: transcription + diarization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OpenClaw Agent: orchestration via LangChain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SOUL.md: agent persona + coaching rules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HEARTBEAT.md: session lifecycle hooks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Cognitive RAM: SQLite / Redis for state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GPT-4: questions, scoring, verdicts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501826" y="4930083"/>
            <a:ext cx="7555554" cy="4225233"/>
            <a:chOff x="0" y="0"/>
            <a:chExt cx="10074072" cy="56336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74148" cy="5633720"/>
            </a:xfrm>
            <a:custGeom>
              <a:avLst/>
              <a:gdLst/>
              <a:ahLst/>
              <a:cxnLst/>
              <a:rect l="l" t="t" r="r" b="b"/>
              <a:pathLst>
                <a:path w="10074148" h="5633720">
                  <a:moveTo>
                    <a:pt x="0" y="44323"/>
                  </a:moveTo>
                  <a:cubicBezTo>
                    <a:pt x="0" y="19812"/>
                    <a:pt x="19812" y="0"/>
                    <a:pt x="44323" y="0"/>
                  </a:cubicBezTo>
                  <a:lnTo>
                    <a:pt x="10029825" y="0"/>
                  </a:lnTo>
                  <a:cubicBezTo>
                    <a:pt x="10054336" y="0"/>
                    <a:pt x="10074148" y="19812"/>
                    <a:pt x="10074148" y="44323"/>
                  </a:cubicBezTo>
                  <a:lnTo>
                    <a:pt x="10074148" y="5589397"/>
                  </a:lnTo>
                  <a:cubicBezTo>
                    <a:pt x="10074148" y="5613908"/>
                    <a:pt x="10054336" y="5633720"/>
                    <a:pt x="10029825" y="5633720"/>
                  </a:cubicBezTo>
                  <a:lnTo>
                    <a:pt x="44323" y="5633720"/>
                  </a:lnTo>
                  <a:cubicBezTo>
                    <a:pt x="19812" y="5633720"/>
                    <a:pt x="0" y="5613908"/>
                    <a:pt x="0" y="5589397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723282" y="5132489"/>
            <a:ext cx="3244301" cy="37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📊</a:t>
            </a:r>
            <a:r>
              <a:rPr lang="en-US" sz="21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Scoring &amp; Visualization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3282" y="5563191"/>
            <a:ext cx="7112641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Gap Score Engine: claims parser + evidence mapper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Candidate Integrity Score (0–100)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Radar Chart: 4-axis breakdown via matplotlib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Two-Candidate Comparison Engine + AI verdict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PDF Report Generator: reportlab / fpdf2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30316" y="4930083"/>
            <a:ext cx="7555706" cy="4225233"/>
            <a:chOff x="0" y="0"/>
            <a:chExt cx="10074275" cy="56336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74275" cy="5633720"/>
            </a:xfrm>
            <a:custGeom>
              <a:avLst/>
              <a:gdLst/>
              <a:ahLst/>
              <a:cxnLst/>
              <a:rect l="l" t="t" r="r" b="b"/>
              <a:pathLst>
                <a:path w="10074275" h="5633720">
                  <a:moveTo>
                    <a:pt x="0" y="44323"/>
                  </a:moveTo>
                  <a:cubicBezTo>
                    <a:pt x="0" y="19812"/>
                    <a:pt x="19812" y="0"/>
                    <a:pt x="44323" y="0"/>
                  </a:cubicBezTo>
                  <a:lnTo>
                    <a:pt x="10029952" y="0"/>
                  </a:lnTo>
                  <a:cubicBezTo>
                    <a:pt x="10054463" y="0"/>
                    <a:pt x="10074275" y="19812"/>
                    <a:pt x="10074275" y="44323"/>
                  </a:cubicBezTo>
                  <a:lnTo>
                    <a:pt x="10074275" y="5589397"/>
                  </a:lnTo>
                  <a:cubicBezTo>
                    <a:pt x="10074275" y="5613908"/>
                    <a:pt x="10054463" y="5633720"/>
                    <a:pt x="10029952" y="5633720"/>
                  </a:cubicBezTo>
                  <a:lnTo>
                    <a:pt x="44323" y="5633720"/>
                  </a:lnTo>
                  <a:cubicBezTo>
                    <a:pt x="19812" y="5633720"/>
                    <a:pt x="0" y="5613908"/>
                    <a:pt x="0" y="5589397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451772" y="5132489"/>
            <a:ext cx="2768803" cy="37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📦</a:t>
            </a:r>
            <a:r>
              <a:rPr lang="en-US" sz="21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Key Libraries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51772" y="5534616"/>
            <a:ext cx="7112794" cy="339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Consolas"/>
                <a:ea typeface="Consolas"/>
                <a:cs typeface="Consolas"/>
                <a:sym typeface="Consolas"/>
              </a:rPr>
              <a:t>openai-whisper / faster-whisper — transcription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pyaudio / sounddevice — audio capture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python-telegram-bot — Telegram interface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twilio — WhatsApp interface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langchain — agent orchestration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rich — terminal UI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sqlite3 / redis-py — Cognitive RAM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matplotlib — radar charts</a:t>
            </a:r>
          </a:p>
          <a:p>
            <a:pPr marL="254496" lvl="1" indent="-127248" algn="l">
              <a:lnSpc>
                <a:spcPts val="2437"/>
              </a:lnSpc>
              <a:buFont typeface="Arial"/>
              <a:buChar char="•"/>
            </a:pP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reportlab / fpdf2 — PDF export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1826" y="9302353"/>
            <a:ext cx="15284206" cy="363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 i="1">
                <a:solidFill>
                  <a:srgbClr val="5CC97B"/>
                </a:solidFill>
                <a:latin typeface="Lato Italics"/>
                <a:ea typeface="Lato Italics"/>
                <a:cs typeface="Lato Italics"/>
                <a:sym typeface="Lato Italics"/>
              </a:rPr>
              <a:t>All API dependencies are replaceable with self-hosted equivalents — GhostCue is designed for minimal vendor lock-in. Available at </a:t>
            </a:r>
            <a:r>
              <a:rPr lang="en-US" sz="1687" b="1" i="1">
                <a:solidFill>
                  <a:srgbClr val="5CC97B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ghostcue.app</a:t>
            </a:r>
            <a:r>
              <a:rPr lang="en-US" sz="1687" i="1">
                <a:solidFill>
                  <a:srgbClr val="5CC97B"/>
                </a:solidFill>
                <a:latin typeface="Lato Italics"/>
                <a:ea typeface="Lato Italics"/>
                <a:cs typeface="Lato Italics"/>
                <a:sym typeface="Lato Italic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348978" y="664959"/>
            <a:ext cx="6637582" cy="73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What's Next for GhostCue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48978" y="1871815"/>
            <a:ext cx="7519245" cy="7519245"/>
            <a:chOff x="0" y="0"/>
            <a:chExt cx="10025659" cy="1002565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025634" cy="10025634"/>
            </a:xfrm>
            <a:custGeom>
              <a:avLst/>
              <a:gdLst/>
              <a:ahLst/>
              <a:cxnLst/>
              <a:rect l="l" t="t" r="r" b="b"/>
              <a:pathLst>
                <a:path w="10025634" h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48978" y="1871815"/>
            <a:ext cx="7519245" cy="7519245"/>
            <a:chOff x="0" y="0"/>
            <a:chExt cx="10025659" cy="1002565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025634" cy="10025634"/>
            </a:xfrm>
            <a:custGeom>
              <a:avLst/>
              <a:gdLst/>
              <a:ahLst/>
              <a:cxnLst/>
              <a:rect l="l" t="t" r="r" b="b"/>
              <a:pathLst>
                <a:path w="10025634" h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429007" y="3708502"/>
            <a:ext cx="1880292" cy="404812"/>
            <a:chOff x="0" y="0"/>
            <a:chExt cx="2507056" cy="5397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07107" cy="539750"/>
            </a:xfrm>
            <a:custGeom>
              <a:avLst/>
              <a:gdLst/>
              <a:ahLst/>
              <a:cxnLst/>
              <a:rect l="l" t="t" r="r" b="b"/>
              <a:pathLst>
                <a:path w="2507107" h="539750">
                  <a:moveTo>
                    <a:pt x="0" y="36195"/>
                  </a:moveTo>
                  <a:cubicBezTo>
                    <a:pt x="0" y="16129"/>
                    <a:pt x="16129" y="0"/>
                    <a:pt x="36195" y="0"/>
                  </a:cubicBezTo>
                  <a:lnTo>
                    <a:pt x="2470912" y="0"/>
                  </a:lnTo>
                  <a:cubicBezTo>
                    <a:pt x="2490851" y="0"/>
                    <a:pt x="2507107" y="16129"/>
                    <a:pt x="2507107" y="36195"/>
                  </a:cubicBezTo>
                  <a:lnTo>
                    <a:pt x="2507107" y="503555"/>
                  </a:lnTo>
                  <a:cubicBezTo>
                    <a:pt x="2507107" y="523494"/>
                    <a:pt x="2490978" y="539750"/>
                    <a:pt x="2470912" y="539750"/>
                  </a:cubicBezTo>
                  <a:lnTo>
                    <a:pt x="36195" y="539750"/>
                  </a:lnTo>
                  <a:cubicBezTo>
                    <a:pt x="16129" y="539750"/>
                    <a:pt x="0" y="523621"/>
                    <a:pt x="0" y="503555"/>
                  </a:cubicBezTo>
                  <a:close/>
                </a:path>
              </a:pathLst>
            </a:custGeom>
            <a:solidFill>
              <a:srgbClr val="E7E7E4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564443" y="3728590"/>
            <a:ext cx="1609430" cy="31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37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🌐</a:t>
            </a: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ghostcue.app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29007" y="4166149"/>
            <a:ext cx="3252197" cy="37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 Clean, Minimal Website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29007" y="4680052"/>
            <a:ext cx="7519245" cy="687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 fast landing page with product tagline, core features, interface overview, and an early access signup form. Simple. Fast. Sharp.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29007" y="5570039"/>
            <a:ext cx="7519245" cy="1160707"/>
            <a:chOff x="0" y="0"/>
            <a:chExt cx="10025659" cy="15476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25634" cy="1547622"/>
            </a:xfrm>
            <a:custGeom>
              <a:avLst/>
              <a:gdLst/>
              <a:ahLst/>
              <a:cxnLst/>
              <a:rect l="l" t="t" r="r" b="b"/>
              <a:pathLst>
                <a:path w="10025634" h="1547622">
                  <a:moveTo>
                    <a:pt x="0" y="45212"/>
                  </a:moveTo>
                  <a:cubicBezTo>
                    <a:pt x="0" y="20193"/>
                    <a:pt x="20193" y="0"/>
                    <a:pt x="45212" y="0"/>
                  </a:cubicBezTo>
                  <a:lnTo>
                    <a:pt x="9980422" y="0"/>
                  </a:lnTo>
                  <a:cubicBezTo>
                    <a:pt x="10005440" y="0"/>
                    <a:pt x="10025634" y="20193"/>
                    <a:pt x="10025634" y="45212"/>
                  </a:cubicBezTo>
                  <a:lnTo>
                    <a:pt x="10025634" y="1502410"/>
                  </a:lnTo>
                  <a:cubicBezTo>
                    <a:pt x="10025634" y="1527429"/>
                    <a:pt x="10005440" y="1547622"/>
                    <a:pt x="9980422" y="1547622"/>
                  </a:cubicBezTo>
                  <a:lnTo>
                    <a:pt x="45212" y="1547622"/>
                  </a:lnTo>
                  <a:cubicBezTo>
                    <a:pt x="20193" y="1547622"/>
                    <a:pt x="0" y="1527429"/>
                    <a:pt x="0" y="1502410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654931" y="5902223"/>
            <a:ext cx="282331" cy="225923"/>
            <a:chOff x="0" y="0"/>
            <a:chExt cx="376441" cy="301231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376428" cy="301244"/>
            </a:xfrm>
            <a:custGeom>
              <a:avLst/>
              <a:gdLst/>
              <a:ahLst/>
              <a:cxnLst/>
              <a:rect l="l" t="t" r="r" b="b"/>
              <a:pathLst>
                <a:path w="376428" h="301244">
                  <a:moveTo>
                    <a:pt x="0" y="0"/>
                  </a:moveTo>
                  <a:lnTo>
                    <a:pt x="376428" y="0"/>
                  </a:lnTo>
                  <a:lnTo>
                    <a:pt x="376428" y="301244"/>
                  </a:lnTo>
                  <a:lnTo>
                    <a:pt x="0" y="301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r="-13" b="4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0163175" y="5768283"/>
            <a:ext cx="6559153" cy="687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Try GhostCue Today</a:t>
            </a:r>
            <a:r>
              <a:rPr lang="en-US" sz="17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— Terminal. Telegram. WhatsApp. Web. </a:t>
            </a:r>
            <a:r>
              <a:rPr lang="en-US" sz="1750" i="1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"Built for the future of hiring. Available everywhere you already work."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29007" y="6933162"/>
            <a:ext cx="2306088" cy="621211"/>
            <a:chOff x="0" y="0"/>
            <a:chExt cx="3074784" cy="828281"/>
          </a:xfrm>
        </p:grpSpPr>
        <p:sp>
          <p:nvSpPr>
            <p:cNvPr id="22" name="Freeform 22" descr="preencoded.png">
              <a:hlinkClick r:id="rId5" tooltip="http://ghostcue.app"/>
            </p:cNvPr>
            <p:cNvSpPr/>
            <p:nvPr/>
          </p:nvSpPr>
          <p:spPr>
            <a:xfrm>
              <a:off x="0" y="0"/>
              <a:ext cx="3074797" cy="828294"/>
            </a:xfrm>
            <a:custGeom>
              <a:avLst/>
              <a:gdLst/>
              <a:ahLst/>
              <a:cxnLst/>
              <a:rect l="l" t="t" r="r" b="b"/>
              <a:pathLst>
                <a:path w="3074797" h="828294">
                  <a:moveTo>
                    <a:pt x="0" y="0"/>
                  </a:moveTo>
                  <a:lnTo>
                    <a:pt x="3074797" y="0"/>
                  </a:lnTo>
                  <a:lnTo>
                    <a:pt x="3074797" y="828294"/>
                  </a:lnTo>
                  <a:lnTo>
                    <a:pt x="0" y="828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5" r="-144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Microsoft Office PowerPoint</Application>
  <PresentationFormat>Custom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Consolas</vt:lpstr>
      <vt:lpstr>Lato Italics</vt:lpstr>
      <vt:lpstr>Calibri</vt:lpstr>
      <vt:lpstr>Lato Bold</vt:lpstr>
      <vt:lpstr>Lato Bold Italics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Prince</dc:creator>
  <cp:lastModifiedBy>prince.singh21@outlook.com</cp:lastModifiedBy>
  <cp:revision>1</cp:revision>
  <dcterms:created xsi:type="dcterms:W3CDTF">2006-08-16T00:00:00Z</dcterms:created>
  <dcterms:modified xsi:type="dcterms:W3CDTF">2026-04-24T16:45:11Z</dcterms:modified>
  <dc:identifier>DAHHxrEQB2Y</dc:identifier>
</cp:coreProperties>
</file>